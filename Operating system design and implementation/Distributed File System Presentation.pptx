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7" r:id="rId7"/>
    <p:sldId id="266" r:id="rId8"/>
    <p:sldId id="265" r:id="rId9"/>
    <p:sldId id="270" r:id="rId10"/>
    <p:sldId id="268" r:id="rId11"/>
    <p:sldId id="271" r:id="rId12"/>
    <p:sldId id="272" r:id="rId13"/>
    <p:sldId id="260" r:id="rId14"/>
    <p:sldId id="261" r:id="rId15"/>
    <p:sldId id="262" r:id="rId16"/>
    <p:sldId id="263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07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3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50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9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93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73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8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1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5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8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696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535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78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27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196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958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68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E30EDB-DACD-4430-89B7-7F052EA58C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D3808B-5DB5-4A72-9AD0-A5F125EEA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2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Distributed File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Presented By: </a:t>
            </a:r>
          </a:p>
          <a:p>
            <a:r>
              <a:rPr lang="en-US" dirty="0" smtClean="0"/>
              <a:t>Tirtha Bhattarai</a:t>
            </a:r>
          </a:p>
          <a:p>
            <a:r>
              <a:rPr lang="en-US" dirty="0" smtClean="0"/>
              <a:t>Nabina Chaulagain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3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A Distributed File System stores files across multiple machines (nodes) but makes them appear as if they are stored in one single </a:t>
            </a:r>
            <a:r>
              <a:rPr lang="en-US" dirty="0" smtClean="0"/>
              <a:t>system.</a:t>
            </a:r>
          </a:p>
          <a:p>
            <a:pPr algn="just"/>
            <a:r>
              <a:rPr lang="en-US" dirty="0" smtClean="0"/>
              <a:t>Instead </a:t>
            </a:r>
            <a:r>
              <a:rPr lang="en-US" dirty="0"/>
              <a:t>of saving a big file on one computer</a:t>
            </a:r>
            <a:r>
              <a:rPr lang="en-US" dirty="0" smtClean="0"/>
              <a:t>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 smtClean="0"/>
              <a:t>Break </a:t>
            </a:r>
            <a:r>
              <a:rPr lang="en-US" dirty="0"/>
              <a:t>it into </a:t>
            </a:r>
            <a:r>
              <a:rPr lang="en-US" dirty="0" smtClean="0"/>
              <a:t>parts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 smtClean="0"/>
              <a:t>Store </a:t>
            </a:r>
            <a:r>
              <a:rPr lang="en-US" dirty="0"/>
              <a:t>parts on different </a:t>
            </a:r>
            <a:r>
              <a:rPr lang="en-US" dirty="0" smtClean="0"/>
              <a:t>machines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 smtClean="0"/>
              <a:t>Access </a:t>
            </a:r>
            <a:r>
              <a:rPr lang="en-US" dirty="0"/>
              <a:t>it like a normal file</a:t>
            </a:r>
          </a:p>
        </p:txBody>
      </p:sp>
    </p:spTree>
    <p:extLst>
      <p:ext uri="{BB962C8B-B14F-4D97-AF65-F5344CB8AC3E}">
        <p14:creationId xmlns:p14="http://schemas.microsoft.com/office/powerpoint/2010/main" val="206291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DFS?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Handle huge data (Big Data</a:t>
            </a:r>
            <a:r>
              <a:rPr lang="en-US" dirty="0" smtClean="0"/>
              <a:t>)</a:t>
            </a:r>
          </a:p>
          <a:p>
            <a:r>
              <a:rPr lang="en-US" dirty="0" smtClean="0"/>
              <a:t>Improve </a:t>
            </a:r>
            <a:r>
              <a:rPr lang="en-US" dirty="0"/>
              <a:t>fault </a:t>
            </a:r>
            <a:r>
              <a:rPr lang="en-US" dirty="0" smtClean="0"/>
              <a:t>tolerance</a:t>
            </a:r>
          </a:p>
          <a:p>
            <a:r>
              <a:rPr lang="en-US" dirty="0" smtClean="0"/>
              <a:t>Increase performance</a:t>
            </a:r>
          </a:p>
          <a:p>
            <a:r>
              <a:rPr lang="en-US" dirty="0" smtClean="0"/>
              <a:t>Enable </a:t>
            </a:r>
            <a:r>
              <a:rPr lang="en-US" dirty="0"/>
              <a:t>parallel processing</a:t>
            </a:r>
          </a:p>
        </p:txBody>
      </p:sp>
    </p:spTree>
    <p:extLst>
      <p:ext uri="{BB962C8B-B14F-4D97-AF65-F5344CB8AC3E}">
        <p14:creationId xmlns:p14="http://schemas.microsoft.com/office/powerpoint/2010/main" val="353775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Google </a:t>
            </a:r>
            <a:r>
              <a:rPr lang="en-US" sz="2000" b="1" dirty="0"/>
              <a:t>Drive: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Your file is not stored on one server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It is distributed across many servers worldwide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If one server </a:t>
            </a:r>
            <a:r>
              <a:rPr lang="en-US" dirty="0" smtClean="0"/>
              <a:t>fails,  your </a:t>
            </a:r>
            <a:r>
              <a:rPr lang="en-US" dirty="0"/>
              <a:t>file is still safe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68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Google File System (GFS)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/>
              <a:t>The Google File System (GFS) is a scalable distributed file system developed by Google to store and manage huge amounts of data across thousands of machines</a:t>
            </a:r>
            <a:r>
              <a:rPr lang="en-US" sz="2000" dirty="0" smtClean="0"/>
              <a:t>.</a:t>
            </a:r>
          </a:p>
          <a:p>
            <a:pPr algn="just"/>
            <a:r>
              <a:rPr lang="en-US" sz="2000" dirty="0" smtClean="0"/>
              <a:t>It </a:t>
            </a:r>
            <a:r>
              <a:rPr lang="en-US" sz="2000" dirty="0"/>
              <a:t>is specially designed for data-intensive applications like search engines, YouTube, and big data analytics.</a:t>
            </a:r>
          </a:p>
          <a:p>
            <a:pPr algn="just"/>
            <a:r>
              <a:rPr lang="en-US" sz="2000" dirty="0" smtClean="0"/>
              <a:t>GFS </a:t>
            </a:r>
            <a:r>
              <a:rPr lang="en-US" sz="2000" dirty="0"/>
              <a:t>was built to </a:t>
            </a:r>
            <a:r>
              <a:rPr lang="en-US" sz="2000" dirty="0" smtClean="0"/>
              <a:t>handle very </a:t>
            </a:r>
            <a:r>
              <a:rPr lang="en-US" sz="2000" dirty="0"/>
              <a:t>large files (GBs to TBs</a:t>
            </a:r>
            <a:r>
              <a:rPr lang="en-US" sz="2000" dirty="0" smtClean="0"/>
              <a:t>), Frequent failures.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994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18239"/>
            <a:ext cx="9601196" cy="930644"/>
          </a:xfrm>
        </p:spPr>
        <p:txBody>
          <a:bodyPr>
            <a:noAutofit/>
          </a:bodyPr>
          <a:lstStyle/>
          <a:p>
            <a:r>
              <a:rPr lang="en-US" dirty="0" smtClean="0"/>
              <a:t>GFS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GFS follows a </a:t>
            </a:r>
            <a:r>
              <a:rPr lang="en-US" dirty="0" smtClean="0"/>
              <a:t>Master - Slave </a:t>
            </a:r>
            <a:r>
              <a:rPr lang="en-US" dirty="0"/>
              <a:t>architecture with three main components</a:t>
            </a:r>
            <a:r>
              <a:rPr lang="en-US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Master: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Stores metadata, i.e. File names, Chunk locations, Access permissions.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Controls </a:t>
            </a:r>
            <a:r>
              <a:rPr lang="en-US" dirty="0"/>
              <a:t>the system but does not store actual file </a:t>
            </a:r>
            <a:r>
              <a:rPr lang="en-US" dirty="0" smtClean="0"/>
              <a:t>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Chunk Servers: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Store </a:t>
            </a:r>
            <a:r>
              <a:rPr lang="en-US" dirty="0"/>
              <a:t>actual data in the form of </a:t>
            </a:r>
            <a:r>
              <a:rPr lang="en-US" dirty="0" smtClean="0"/>
              <a:t>chunks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Each </a:t>
            </a:r>
            <a:r>
              <a:rPr lang="en-US" dirty="0"/>
              <a:t>chunk is typically 64 </a:t>
            </a:r>
            <a:r>
              <a:rPr lang="en-US" dirty="0" smtClean="0"/>
              <a:t>MB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Each </a:t>
            </a:r>
            <a:r>
              <a:rPr lang="en-US" dirty="0"/>
              <a:t>chunk is replicated (usually 3 </a:t>
            </a:r>
            <a:r>
              <a:rPr lang="en-US" dirty="0" smtClean="0"/>
              <a:t>copies)</a:t>
            </a:r>
          </a:p>
        </p:txBody>
      </p:sp>
    </p:spTree>
    <p:extLst>
      <p:ext uri="{BB962C8B-B14F-4D97-AF65-F5344CB8AC3E}">
        <p14:creationId xmlns:p14="http://schemas.microsoft.com/office/powerpoint/2010/main" val="2436145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18239"/>
            <a:ext cx="9601196" cy="930644"/>
          </a:xfrm>
        </p:spPr>
        <p:txBody>
          <a:bodyPr>
            <a:noAutofit/>
          </a:bodyPr>
          <a:lstStyle/>
          <a:p>
            <a:r>
              <a:rPr lang="en-US" dirty="0" smtClean="0"/>
              <a:t>GFS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 smtClean="0"/>
              <a:t>Clients: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Applications </a:t>
            </a:r>
            <a:r>
              <a:rPr lang="en-US" dirty="0"/>
              <a:t>that request </a:t>
            </a:r>
            <a:r>
              <a:rPr lang="en-US" dirty="0" smtClean="0"/>
              <a:t>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Communicate </a:t>
            </a:r>
            <a:r>
              <a:rPr lang="en-US" dirty="0"/>
              <a:t>with</a:t>
            </a:r>
            <a:r>
              <a:rPr lang="en-US" dirty="0" smtClean="0"/>
              <a:t>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 smtClean="0"/>
              <a:t>Master =&gt; </a:t>
            </a:r>
            <a:r>
              <a:rPr lang="en-US" dirty="0"/>
              <a:t>for </a:t>
            </a:r>
            <a:r>
              <a:rPr lang="en-US" dirty="0" smtClean="0"/>
              <a:t>metadata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 smtClean="0"/>
              <a:t>Chunk </a:t>
            </a:r>
            <a:r>
              <a:rPr lang="en-US" dirty="0"/>
              <a:t>servers  </a:t>
            </a:r>
            <a:r>
              <a:rPr lang="en-US" dirty="0" smtClean="0"/>
              <a:t>=&gt; for </a:t>
            </a:r>
            <a:r>
              <a:rPr lang="en-US" dirty="0"/>
              <a:t>actual data</a:t>
            </a:r>
          </a:p>
        </p:txBody>
      </p:sp>
    </p:spTree>
    <p:extLst>
      <p:ext uri="{BB962C8B-B14F-4D97-AF65-F5344CB8AC3E}">
        <p14:creationId xmlns:p14="http://schemas.microsoft.com/office/powerpoint/2010/main" val="2023282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18239"/>
            <a:ext cx="9601196" cy="930644"/>
          </a:xfrm>
        </p:spPr>
        <p:txBody>
          <a:bodyPr>
            <a:noAutofit/>
          </a:bodyPr>
          <a:lstStyle/>
          <a:p>
            <a:r>
              <a:rPr lang="en-US" dirty="0" smtClean="0"/>
              <a:t>GFS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698171"/>
            <a:ext cx="9668067" cy="445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35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Google File System (GFS)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Analogy of </a:t>
            </a:r>
            <a:r>
              <a:rPr lang="en-US" sz="2000" dirty="0"/>
              <a:t>GFS like a </a:t>
            </a:r>
            <a:r>
              <a:rPr lang="en-US" sz="2000" b="1" dirty="0"/>
              <a:t>warehouse system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b="1" dirty="0"/>
              <a:t>Master</a:t>
            </a:r>
            <a:r>
              <a:rPr lang="en-US" sz="1600" dirty="0"/>
              <a:t> = Manager (knows where everything is)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b="1" dirty="0"/>
              <a:t>Chunk Servers</a:t>
            </a:r>
            <a:r>
              <a:rPr lang="en-US" sz="1600" dirty="0"/>
              <a:t> = Storage </a:t>
            </a:r>
            <a:r>
              <a:rPr lang="en-US" sz="1600" dirty="0" smtClean="0"/>
              <a:t>units </a:t>
            </a:r>
            <a:endParaRPr lang="en-US" sz="16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b="1" dirty="0"/>
              <a:t>Client</a:t>
            </a:r>
            <a:r>
              <a:rPr lang="en-US" sz="1600" dirty="0"/>
              <a:t> = Customer requesting items</a:t>
            </a:r>
          </a:p>
          <a:p>
            <a:r>
              <a:rPr lang="en-US" sz="2000" dirty="0"/>
              <a:t>Even if one storage unit </a:t>
            </a:r>
            <a:r>
              <a:rPr lang="en-US" sz="2000" dirty="0" smtClean="0"/>
              <a:t>fails </a:t>
            </a:r>
            <a:r>
              <a:rPr lang="en-US" sz="2000" dirty="0"/>
              <a:t>items are still available elsewhere.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72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18239"/>
            <a:ext cx="9601196" cy="930644"/>
          </a:xfrm>
        </p:spPr>
        <p:txBody>
          <a:bodyPr>
            <a:noAutofit/>
          </a:bodyPr>
          <a:lstStyle/>
          <a:p>
            <a:r>
              <a:rPr lang="en-US" dirty="0" smtClean="0"/>
              <a:t>Working of GFS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b="1" u="sng" dirty="0" smtClean="0"/>
              <a:t>File </a:t>
            </a:r>
            <a:r>
              <a:rPr lang="en-US" sz="1800" b="1" u="sng" dirty="0"/>
              <a:t>Write </a:t>
            </a:r>
            <a:r>
              <a:rPr lang="en-US" sz="1800" b="1" u="sng" dirty="0" smtClean="0"/>
              <a:t>Process: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Client </a:t>
            </a:r>
            <a:r>
              <a:rPr lang="en-US" sz="1800" dirty="0"/>
              <a:t>asks Master for chunk </a:t>
            </a:r>
            <a:r>
              <a:rPr lang="en-US" sz="1800" dirty="0" smtClean="0"/>
              <a:t>locations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Master </a:t>
            </a:r>
            <a:r>
              <a:rPr lang="en-US" sz="1800" dirty="0"/>
              <a:t>responds </a:t>
            </a:r>
            <a:r>
              <a:rPr lang="en-US" sz="1800" dirty="0" smtClean="0"/>
              <a:t>with </a:t>
            </a:r>
            <a:r>
              <a:rPr lang="en-US" sz="1800" dirty="0"/>
              <a:t>chunk server </a:t>
            </a:r>
            <a:r>
              <a:rPr lang="en-US" sz="1800" dirty="0" smtClean="0"/>
              <a:t>details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Client </a:t>
            </a:r>
            <a:r>
              <a:rPr lang="en-US" sz="1800" dirty="0"/>
              <a:t>writes data directly to chunk </a:t>
            </a:r>
            <a:r>
              <a:rPr lang="en-US" sz="1800" dirty="0" smtClean="0"/>
              <a:t>servers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Data </a:t>
            </a:r>
            <a:r>
              <a:rPr lang="en-US" sz="1800" dirty="0"/>
              <a:t>is replicated across multiple </a:t>
            </a:r>
            <a:r>
              <a:rPr lang="en-US" sz="1800" dirty="0" smtClean="0"/>
              <a:t>servers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u="sng" dirty="0" smtClean="0"/>
              <a:t>File </a:t>
            </a:r>
            <a:r>
              <a:rPr lang="en-US" sz="1800" b="1" u="sng" dirty="0"/>
              <a:t>Read </a:t>
            </a:r>
            <a:r>
              <a:rPr lang="en-US" sz="1800" b="1" u="sng" dirty="0" smtClean="0"/>
              <a:t>Process: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Client </a:t>
            </a:r>
            <a:r>
              <a:rPr lang="en-US" sz="1800" dirty="0"/>
              <a:t>asks Master for chunk </a:t>
            </a:r>
            <a:r>
              <a:rPr lang="en-US" sz="1800" dirty="0" smtClean="0"/>
              <a:t>location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Master </a:t>
            </a:r>
            <a:r>
              <a:rPr lang="en-US" sz="1800" dirty="0"/>
              <a:t>returns chunk server </a:t>
            </a:r>
            <a:r>
              <a:rPr lang="en-US" sz="1800" dirty="0" smtClean="0"/>
              <a:t>info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/>
              <a:t>Client </a:t>
            </a:r>
            <a:r>
              <a:rPr lang="en-US" sz="1800" dirty="0"/>
              <a:t>reads data directly from chunk server</a:t>
            </a:r>
          </a:p>
        </p:txBody>
      </p:sp>
    </p:spTree>
    <p:extLst>
      <p:ext uri="{BB962C8B-B14F-4D97-AF65-F5344CB8AC3E}">
        <p14:creationId xmlns:p14="http://schemas.microsoft.com/office/powerpoint/2010/main" val="1030651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443" y="1075439"/>
            <a:ext cx="9601196" cy="930644"/>
          </a:xfrm>
        </p:spPr>
        <p:txBody>
          <a:bodyPr>
            <a:noAutofit/>
          </a:bodyPr>
          <a:lstStyle/>
          <a:p>
            <a:r>
              <a:rPr lang="en-US" dirty="0" smtClean="0"/>
              <a:t>Advantages of GFS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High Fault Tolerance:</a:t>
            </a:r>
            <a:r>
              <a:rPr lang="en-US" sz="1800" dirty="0" smtClean="0"/>
              <a:t> Uses replication to ensure data is available even if nodes fail.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Scalability:</a:t>
            </a:r>
            <a:r>
              <a:rPr lang="en-US" sz="1800" dirty="0" smtClean="0"/>
              <a:t> Can handle thousands of machines and petabytes of data.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High Throughput:</a:t>
            </a:r>
            <a:r>
              <a:rPr lang="en-US" sz="1800" dirty="0" smtClean="0"/>
              <a:t> Optimized for large data processing and streaming.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Efficient for Large Files:</a:t>
            </a:r>
            <a:r>
              <a:rPr lang="en-US" sz="1800" dirty="0" smtClean="0"/>
              <a:t> Works best with very large files (GBs/TBs).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Automatic Recovery:</a:t>
            </a:r>
            <a:r>
              <a:rPr lang="en-US" sz="1800" dirty="0" smtClean="0"/>
              <a:t> Detects failures and re-replicates data automatically.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Supports Concurrent Access:</a:t>
            </a:r>
            <a:r>
              <a:rPr lang="en-US" sz="1800" dirty="0" smtClean="0"/>
              <a:t> Multiple clients can read and append data efficiently.</a:t>
            </a:r>
          </a:p>
        </p:txBody>
      </p:sp>
    </p:spTree>
    <p:extLst>
      <p:ext uri="{BB962C8B-B14F-4D97-AF65-F5344CB8AC3E}">
        <p14:creationId xmlns:p14="http://schemas.microsoft.com/office/powerpoint/2010/main" val="290805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443" y="1075439"/>
            <a:ext cx="9601196" cy="930644"/>
          </a:xfrm>
        </p:spPr>
        <p:txBody>
          <a:bodyPr>
            <a:noAutofit/>
          </a:bodyPr>
          <a:lstStyle/>
          <a:p>
            <a:r>
              <a:rPr lang="en-US" dirty="0" smtClean="0"/>
              <a:t>Limitation of GFS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800" b="1" dirty="0"/>
              <a:t>Single Master Bottleneck: </a:t>
            </a:r>
            <a:r>
              <a:rPr lang="en-US" sz="1800" dirty="0"/>
              <a:t>Master node can become a performance and failure bottleneck</a:t>
            </a:r>
            <a:r>
              <a:rPr lang="en-US" sz="1800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Not </a:t>
            </a:r>
            <a:r>
              <a:rPr lang="en-US" sz="1800" b="1" dirty="0"/>
              <a:t>Suitable for Small Files: </a:t>
            </a:r>
            <a:r>
              <a:rPr lang="en-US" sz="1800" dirty="0"/>
              <a:t>Inefficient when handling many small files</a:t>
            </a:r>
            <a:r>
              <a:rPr lang="en-US" sz="1800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High </a:t>
            </a:r>
            <a:r>
              <a:rPr lang="en-US" sz="1800" b="1" dirty="0"/>
              <a:t>Latency for Small Operations: </a:t>
            </a:r>
            <a:r>
              <a:rPr lang="en-US" sz="1800" dirty="0"/>
              <a:t>Not optimized for quick, small read/write tasks</a:t>
            </a:r>
            <a:r>
              <a:rPr lang="en-US" sz="1800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800" b="1" dirty="0" smtClean="0"/>
              <a:t>Complex </a:t>
            </a:r>
            <a:r>
              <a:rPr lang="en-US" sz="1800" b="1" dirty="0"/>
              <a:t>Management: </a:t>
            </a:r>
            <a:r>
              <a:rPr lang="en-US" sz="1800" dirty="0"/>
              <a:t>Requires careful handling of distributed infrastructure.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406582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The Hadoop Distributed File System (HDFS)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The </a:t>
            </a:r>
            <a:r>
              <a:rPr lang="en-US" sz="2000" dirty="0"/>
              <a:t>Hadoop Distributed File System (HDFS) is a key component of the Apache Hadoop ecosystem, designed to store and manage large volumes of data across multiple machines in a distributed manner. </a:t>
            </a:r>
            <a:endParaRPr lang="en-US" sz="2000" dirty="0" smtClean="0"/>
          </a:p>
          <a:p>
            <a:pPr algn="just"/>
            <a:r>
              <a:rPr lang="en-US" sz="2000" dirty="0" smtClean="0"/>
              <a:t>It </a:t>
            </a:r>
            <a:r>
              <a:rPr lang="en-US" sz="2000" dirty="0"/>
              <a:t>provides high-throughput access to data, making it suitable for applications that deal with large datasets, such as big data analytics, machine learning, and data warehousing.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474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HDFS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 smtClean="0"/>
              <a:t>HDFS is designed to be highly scalable, reliable, and efficient, enabling the storage and processing of massive datasets. </a:t>
            </a:r>
          </a:p>
          <a:p>
            <a:pPr algn="just"/>
            <a:r>
              <a:rPr lang="en-US" sz="2000" dirty="0" smtClean="0"/>
              <a:t>Its architecture consists of several key components: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600" b="1" dirty="0" err="1" smtClean="0"/>
              <a:t>NameNode</a:t>
            </a:r>
            <a:r>
              <a:rPr lang="en-US" sz="1600" b="1" dirty="0" smtClean="0"/>
              <a:t> (Master):</a:t>
            </a:r>
            <a:r>
              <a:rPr lang="en-US" sz="1600" dirty="0" smtClean="0"/>
              <a:t> Manages HDFS metadata and tracks the location of data blocks across </a:t>
            </a:r>
            <a:r>
              <a:rPr lang="en-US" sz="1600" dirty="0" err="1" smtClean="0"/>
              <a:t>DataNodes</a:t>
            </a:r>
            <a:r>
              <a:rPr lang="en-US" sz="1600" dirty="0" smtClean="0"/>
              <a:t>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600" b="1" dirty="0" err="1" smtClean="0"/>
              <a:t>DataNode</a:t>
            </a:r>
            <a:r>
              <a:rPr lang="en-US" sz="1600" b="1" dirty="0" smtClean="0"/>
              <a:t> (Slaves):</a:t>
            </a:r>
            <a:r>
              <a:rPr lang="en-US" sz="1600" dirty="0" smtClean="0"/>
              <a:t> Stores actual data blocks and handles read/write operations in HDFS.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600" b="1" dirty="0" smtClean="0"/>
              <a:t>Secondary </a:t>
            </a:r>
            <a:r>
              <a:rPr lang="en-US" sz="1600" b="1" dirty="0" err="1" smtClean="0"/>
              <a:t>NameNode</a:t>
            </a:r>
            <a:r>
              <a:rPr lang="en-US" sz="1600" b="1" dirty="0" smtClean="0"/>
              <a:t>:</a:t>
            </a:r>
            <a:r>
              <a:rPr lang="en-US" sz="1600" dirty="0" smtClean="0"/>
              <a:t> Periodically merges metadata to assist the </a:t>
            </a:r>
            <a:r>
              <a:rPr lang="en-US" sz="1600" dirty="0" err="1" smtClean="0"/>
              <a:t>NameNode</a:t>
            </a:r>
            <a:r>
              <a:rPr lang="en-US" sz="1600" dirty="0" smtClean="0"/>
              <a:t> and improve system performance.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600" b="1" dirty="0" smtClean="0"/>
              <a:t>HDFS Client:</a:t>
            </a:r>
            <a:r>
              <a:rPr lang="en-US" sz="1600" dirty="0" smtClean="0"/>
              <a:t> Communicates with </a:t>
            </a:r>
            <a:r>
              <a:rPr lang="en-US" sz="1600" dirty="0" err="1" smtClean="0"/>
              <a:t>NameNode</a:t>
            </a:r>
            <a:r>
              <a:rPr lang="en-US" sz="1600" dirty="0" smtClean="0"/>
              <a:t> and </a:t>
            </a:r>
            <a:r>
              <a:rPr lang="en-US" sz="1600" dirty="0" err="1" smtClean="0"/>
              <a:t>DataNodes</a:t>
            </a:r>
            <a:r>
              <a:rPr lang="en-US" sz="1600" dirty="0" smtClean="0"/>
              <a:t> to perform file operations.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600" b="1" dirty="0" smtClean="0"/>
              <a:t>Block Structure:</a:t>
            </a:r>
            <a:r>
              <a:rPr lang="en-US" sz="1600" dirty="0" smtClean="0"/>
              <a:t> Splits large files into fixed-size blocks stored and replicated across multiple nodes.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5973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3" y="1026367"/>
            <a:ext cx="9601196" cy="491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15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Working of HDFS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File is split into blocks (e.g., 128MB</a:t>
            </a:r>
            <a:r>
              <a:rPr lang="en-US" dirty="0" smtClean="0"/>
              <a:t>)</a:t>
            </a:r>
          </a:p>
          <a:p>
            <a:pPr algn="just"/>
            <a:r>
              <a:rPr lang="en-US" dirty="0" smtClean="0"/>
              <a:t>Each </a:t>
            </a:r>
            <a:r>
              <a:rPr lang="en-US" dirty="0"/>
              <a:t>block is stored on different </a:t>
            </a:r>
            <a:r>
              <a:rPr lang="en-US" dirty="0" err="1" smtClean="0"/>
              <a:t>DataNodes</a:t>
            </a:r>
            <a:endParaRPr lang="en-US" dirty="0" smtClean="0"/>
          </a:p>
          <a:p>
            <a:pPr algn="just"/>
            <a:r>
              <a:rPr lang="en-US" dirty="0" smtClean="0"/>
              <a:t>Blocks </a:t>
            </a:r>
            <a:r>
              <a:rPr lang="en-US" dirty="0"/>
              <a:t>are replicated (default = 3 copies)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125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Advantages </a:t>
            </a:r>
            <a:r>
              <a:rPr lang="en-US" dirty="0" smtClean="0"/>
              <a:t>&amp; Limitations of </a:t>
            </a:r>
            <a:r>
              <a:rPr lang="en-US" dirty="0" smtClean="0"/>
              <a:t>HDFS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 smtClean="0"/>
              <a:t>Advantages: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b="1" dirty="0" smtClean="0"/>
              <a:t>Fault Tolerance: </a:t>
            </a:r>
            <a:r>
              <a:rPr lang="en-US" dirty="0" smtClean="0"/>
              <a:t>If </a:t>
            </a:r>
            <a:r>
              <a:rPr lang="en-US" dirty="0"/>
              <a:t>one node fails, data is still </a:t>
            </a:r>
            <a:r>
              <a:rPr lang="en-US" dirty="0" smtClean="0"/>
              <a:t>available.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b="1" dirty="0" smtClean="0"/>
              <a:t>Data Locality: </a:t>
            </a:r>
            <a:r>
              <a:rPr lang="en-US" dirty="0" smtClean="0"/>
              <a:t>Processing </a:t>
            </a:r>
            <a:r>
              <a:rPr lang="en-US" dirty="0"/>
              <a:t>happens where data is </a:t>
            </a:r>
            <a:r>
              <a:rPr lang="en-US" dirty="0" smtClean="0"/>
              <a:t>stored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b="1" dirty="0" smtClean="0"/>
              <a:t>High Throughput: </a:t>
            </a:r>
            <a:r>
              <a:rPr lang="en-US" dirty="0" smtClean="0"/>
              <a:t>Good </a:t>
            </a:r>
            <a:r>
              <a:rPr lang="en-US" dirty="0"/>
              <a:t>for large data, not small </a:t>
            </a:r>
            <a:r>
              <a:rPr lang="en-US" dirty="0" smtClean="0"/>
              <a:t>files</a:t>
            </a:r>
            <a:endParaRPr lang="en-US" dirty="0"/>
          </a:p>
          <a:p>
            <a:pPr algn="just"/>
            <a:r>
              <a:rPr lang="en-US" b="1" dirty="0" smtClean="0"/>
              <a:t>Limitations: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 smtClean="0"/>
              <a:t>Single </a:t>
            </a:r>
            <a:r>
              <a:rPr lang="en-US" dirty="0" err="1"/>
              <a:t>NameNode</a:t>
            </a:r>
            <a:r>
              <a:rPr lang="en-US" dirty="0"/>
              <a:t> failure </a:t>
            </a:r>
            <a:r>
              <a:rPr lang="en-US" dirty="0" smtClean="0"/>
              <a:t>risk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 smtClean="0"/>
              <a:t>Poor </a:t>
            </a:r>
            <a:r>
              <a:rPr lang="en-US" dirty="0"/>
              <a:t>performance for small 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50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CEPH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 smtClean="0"/>
              <a:t>CEPH </a:t>
            </a:r>
            <a:r>
              <a:rPr lang="en-US" dirty="0"/>
              <a:t>is an open-source distributed storage system designed to provide high scalability, reliability, and performance without a single point of failure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supports object storage, block storage, and file systems in one unified platform.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212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Why Ceph?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Ceph is designed to: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Handle massive amounts of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Avoid central bottlenecks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Provide self-managing and self-healing storage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Work efficiently in cloud and data center environments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78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CEPH</a:t>
            </a:r>
            <a:r>
              <a:rPr lang="en-US" dirty="0" smtClean="0"/>
              <a:t>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47925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1800" b="1" dirty="0" smtClean="0"/>
              <a:t>OSD </a:t>
            </a:r>
            <a:r>
              <a:rPr lang="en-US" sz="1800" b="1" dirty="0"/>
              <a:t>(Object Storage </a:t>
            </a:r>
            <a:r>
              <a:rPr lang="en-US" sz="1800" b="1" dirty="0" smtClean="0"/>
              <a:t>Daemon)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 smtClean="0"/>
              <a:t>Stores </a:t>
            </a:r>
            <a:r>
              <a:rPr lang="en-US" sz="1800" dirty="0"/>
              <a:t>actual data (objects)Handles read/write </a:t>
            </a:r>
            <a:r>
              <a:rPr lang="en-US" sz="1800" dirty="0" smtClean="0"/>
              <a:t>operations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 smtClean="0"/>
              <a:t>Manages </a:t>
            </a:r>
            <a:r>
              <a:rPr lang="en-US" sz="1800" dirty="0"/>
              <a:t>replication and </a:t>
            </a:r>
            <a:r>
              <a:rPr lang="en-US" sz="1800" dirty="0" smtClean="0"/>
              <a:t>recovery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 smtClean="0"/>
              <a:t>MON </a:t>
            </a:r>
            <a:r>
              <a:rPr lang="en-US" sz="1800" b="1" dirty="0"/>
              <a:t>(Monitor</a:t>
            </a:r>
            <a:r>
              <a:rPr lang="en-US" sz="1800" b="1" dirty="0" smtClean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 smtClean="0"/>
              <a:t>Maintains </a:t>
            </a:r>
            <a:r>
              <a:rPr lang="en-US" sz="1800" dirty="0"/>
              <a:t>cluster state (health, nodes, configuration</a:t>
            </a:r>
            <a:r>
              <a:rPr lang="en-US" sz="1800" dirty="0" smtClean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 smtClean="0"/>
              <a:t>Ensures </a:t>
            </a:r>
            <a:r>
              <a:rPr lang="en-US" sz="1800" dirty="0"/>
              <a:t>consistency across the </a:t>
            </a:r>
            <a:r>
              <a:rPr lang="en-US" sz="1800" dirty="0" smtClean="0"/>
              <a:t>system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800" b="1" dirty="0" smtClean="0"/>
              <a:t>MDS </a:t>
            </a:r>
            <a:r>
              <a:rPr lang="en-US" sz="1800" b="1" dirty="0"/>
              <a:t>(Metadata Server</a:t>
            </a:r>
            <a:r>
              <a:rPr lang="en-US" sz="1800" b="1" dirty="0" smtClean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 smtClean="0"/>
              <a:t>Manages </a:t>
            </a:r>
            <a:r>
              <a:rPr lang="en-US" sz="1800" dirty="0"/>
              <a:t>metadata for Ceph File System (</a:t>
            </a:r>
            <a:r>
              <a:rPr lang="en-US" sz="1800" dirty="0" err="1"/>
              <a:t>CephFS</a:t>
            </a:r>
            <a:r>
              <a:rPr lang="en-US" sz="1800" dirty="0" smtClean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 smtClean="0"/>
              <a:t>Handles </a:t>
            </a:r>
            <a:r>
              <a:rPr lang="en-US" sz="1800" dirty="0"/>
              <a:t>file names, directories, permissions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6404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55562"/>
            <a:ext cx="9601196" cy="818676"/>
          </a:xfrm>
        </p:spPr>
        <p:txBody>
          <a:bodyPr>
            <a:noAutofit/>
          </a:bodyPr>
          <a:lstStyle/>
          <a:p>
            <a:r>
              <a:rPr lang="en-US" dirty="0" smtClean="0"/>
              <a:t>CEPH</a:t>
            </a:r>
            <a:r>
              <a:rPr lang="en-US" dirty="0" smtClean="0"/>
              <a:t> Architecture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595535"/>
            <a:ext cx="9601196" cy="46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62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063690"/>
            <a:ext cx="9601196" cy="923730"/>
          </a:xfrm>
        </p:spPr>
        <p:txBody>
          <a:bodyPr>
            <a:noAutofit/>
          </a:bodyPr>
          <a:lstStyle/>
          <a:p>
            <a:r>
              <a:rPr lang="en-US" dirty="0" smtClean="0"/>
              <a:t>CRUSH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Ceph uses the </a:t>
            </a:r>
            <a:r>
              <a:rPr lang="en-US" b="1" dirty="0"/>
              <a:t>CRUSH</a:t>
            </a:r>
            <a:r>
              <a:rPr lang="en-US" dirty="0"/>
              <a:t> (Controlled Replication Under Scalable Hashing) algorithm to: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Decide where data should be stored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Distribute data evenly across nodes</a:t>
            </a:r>
          </a:p>
          <a:p>
            <a:r>
              <a:rPr lang="en-US" dirty="0" smtClean="0"/>
              <a:t>Clients </a:t>
            </a:r>
            <a:r>
              <a:rPr lang="en-US" dirty="0"/>
              <a:t>can directly calculate data location without asking a central </a:t>
            </a:r>
            <a:r>
              <a:rPr lang="en-US" dirty="0" smtClean="0"/>
              <a:t>server.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818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063690"/>
            <a:ext cx="9601196" cy="923730"/>
          </a:xfrm>
        </p:spPr>
        <p:txBody>
          <a:bodyPr>
            <a:noAutofit/>
          </a:bodyPr>
          <a:lstStyle/>
          <a:p>
            <a:r>
              <a:rPr lang="en-US" dirty="0" smtClean="0"/>
              <a:t>Advantages of CEPH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/>
              <a:t>No Single Point of Failure: </a:t>
            </a:r>
            <a:r>
              <a:rPr lang="en-US" sz="2000" dirty="0"/>
              <a:t>Fully distributed architecture eliminates central bottlenecks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Highly </a:t>
            </a:r>
            <a:r>
              <a:rPr lang="en-US" sz="2000" b="1" dirty="0"/>
              <a:t>Scalable: </a:t>
            </a:r>
            <a:r>
              <a:rPr lang="en-US" sz="2000" dirty="0"/>
              <a:t>Can easily scale from a few nodes to thousands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Self-Healing</a:t>
            </a:r>
            <a:r>
              <a:rPr lang="en-US" sz="2000" b="1" dirty="0"/>
              <a:t>: </a:t>
            </a:r>
            <a:r>
              <a:rPr lang="en-US" sz="2000" dirty="0"/>
              <a:t>Automatically detects failures and recovers lost data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Automatic </a:t>
            </a:r>
            <a:r>
              <a:rPr lang="en-US" sz="2000" b="1" dirty="0"/>
              <a:t>Rebalancing: </a:t>
            </a:r>
            <a:r>
              <a:rPr lang="en-US" sz="2000" dirty="0"/>
              <a:t>Redistributes data when nodes are added or removed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Unified </a:t>
            </a:r>
            <a:r>
              <a:rPr lang="en-US" sz="2000" b="1" dirty="0"/>
              <a:t>Storage System: </a:t>
            </a:r>
            <a:r>
              <a:rPr lang="en-US" sz="2000" dirty="0"/>
              <a:t>Supports object, block, and file storage in one platform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Efficient </a:t>
            </a:r>
            <a:r>
              <a:rPr lang="en-US" sz="2000" b="1" dirty="0"/>
              <a:t>Data Distribution: </a:t>
            </a:r>
            <a:r>
              <a:rPr lang="en-US" sz="2000" dirty="0"/>
              <a:t>Uses CRUSH algorithm for intelligent data placement.</a:t>
            </a:r>
          </a:p>
        </p:txBody>
      </p:sp>
    </p:spTree>
    <p:extLst>
      <p:ext uri="{BB962C8B-B14F-4D97-AF65-F5344CB8AC3E}">
        <p14:creationId xmlns:p14="http://schemas.microsoft.com/office/powerpoint/2010/main" val="3458175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063690"/>
            <a:ext cx="9601196" cy="923730"/>
          </a:xfrm>
        </p:spPr>
        <p:txBody>
          <a:bodyPr>
            <a:noAutofit/>
          </a:bodyPr>
          <a:lstStyle/>
          <a:p>
            <a:r>
              <a:rPr lang="en-US" dirty="0" smtClean="0"/>
              <a:t>Limitations of CEPH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b="1" dirty="0"/>
              <a:t>Complex Setup: </a:t>
            </a:r>
            <a:r>
              <a:rPr lang="en-US" sz="2000" dirty="0"/>
              <a:t>Installation and configuration can be difficult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High </a:t>
            </a:r>
            <a:r>
              <a:rPr lang="en-US" sz="2000" b="1" dirty="0"/>
              <a:t>Resource Usage: </a:t>
            </a:r>
            <a:r>
              <a:rPr lang="en-US" sz="2000" dirty="0"/>
              <a:t>Requires more CPU, memory, and network bandwidth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Performance </a:t>
            </a:r>
            <a:r>
              <a:rPr lang="en-US" sz="2000" b="1" dirty="0"/>
              <a:t>Overhead: </a:t>
            </a:r>
            <a:r>
              <a:rPr lang="en-US" sz="2000" dirty="0"/>
              <a:t>Can be slower in small-scale systems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Steep </a:t>
            </a:r>
            <a:r>
              <a:rPr lang="en-US" sz="2000" b="1" dirty="0"/>
              <a:t>Learning Curve: </a:t>
            </a:r>
            <a:r>
              <a:rPr lang="en-US" sz="2000" dirty="0"/>
              <a:t>Harder to understand and manage compared to simpler systems</a:t>
            </a:r>
            <a:r>
              <a:rPr lang="en-US" sz="2000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smtClean="0"/>
              <a:t>Network </a:t>
            </a:r>
            <a:r>
              <a:rPr lang="en-US" sz="2000" b="1" dirty="0"/>
              <a:t>Dependency: </a:t>
            </a:r>
            <a:r>
              <a:rPr lang="en-US" sz="2000" dirty="0"/>
              <a:t>Performance heavily depends on network quality.</a:t>
            </a:r>
          </a:p>
        </p:txBody>
      </p:sp>
    </p:spTree>
    <p:extLst>
      <p:ext uri="{BB962C8B-B14F-4D97-AF65-F5344CB8AC3E}">
        <p14:creationId xmlns:p14="http://schemas.microsoft.com/office/powerpoint/2010/main" val="2545575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000" b="1" dirty="0" smtClean="0"/>
          </a:p>
          <a:p>
            <a:pPr marL="0" indent="0" algn="ctr">
              <a:buNone/>
            </a:pPr>
            <a:r>
              <a:rPr lang="en-US" sz="4400" b="1" dirty="0" smtClean="0"/>
              <a:t>Thank you!!!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2507766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</TotalTime>
  <Words>1075</Words>
  <Application>Microsoft Office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Garamond</vt:lpstr>
      <vt:lpstr>Wingdings</vt:lpstr>
      <vt:lpstr>Organic</vt:lpstr>
      <vt:lpstr>Distributed File Systems</vt:lpstr>
      <vt:lpstr>Introduction</vt:lpstr>
      <vt:lpstr>Why DFS?</vt:lpstr>
      <vt:lpstr>Example</vt:lpstr>
      <vt:lpstr>Google File System (GFS)</vt:lpstr>
      <vt:lpstr>GFS Architecture</vt:lpstr>
      <vt:lpstr>GFS Architecture</vt:lpstr>
      <vt:lpstr>GFS Architecture</vt:lpstr>
      <vt:lpstr>Google File System (GFS)</vt:lpstr>
      <vt:lpstr>Working of GFS</vt:lpstr>
      <vt:lpstr>Advantages of GFS</vt:lpstr>
      <vt:lpstr>Limitation of GFS</vt:lpstr>
      <vt:lpstr>The Hadoop Distributed File System (HDFS)</vt:lpstr>
      <vt:lpstr>HDFS Architecture</vt:lpstr>
      <vt:lpstr>PowerPoint Presentation</vt:lpstr>
      <vt:lpstr>Working of HDFS</vt:lpstr>
      <vt:lpstr>Advantages &amp; Limitations of HDFS</vt:lpstr>
      <vt:lpstr>CEPH</vt:lpstr>
      <vt:lpstr>Why Ceph?</vt:lpstr>
      <vt:lpstr>CEPH Architecture</vt:lpstr>
      <vt:lpstr>CEPH Architecture</vt:lpstr>
      <vt:lpstr>CRUSH Algorithm</vt:lpstr>
      <vt:lpstr>Advantages of CEPH</vt:lpstr>
      <vt:lpstr>Limitations of CEPH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File Systems</dc:title>
  <dc:creator>DELL</dc:creator>
  <cp:lastModifiedBy>DELL</cp:lastModifiedBy>
  <cp:revision>20</cp:revision>
  <dcterms:created xsi:type="dcterms:W3CDTF">2026-03-18T06:54:29Z</dcterms:created>
  <dcterms:modified xsi:type="dcterms:W3CDTF">2026-03-18T08:23:51Z</dcterms:modified>
</cp:coreProperties>
</file>