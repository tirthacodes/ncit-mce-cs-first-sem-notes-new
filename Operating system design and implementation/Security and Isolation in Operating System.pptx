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90" r:id="rId17"/>
    <p:sldId id="292" r:id="rId18"/>
    <p:sldId id="295" r:id="rId19"/>
    <p:sldId id="303" r:id="rId20"/>
    <p:sldId id="304" r:id="rId21"/>
    <p:sldId id="305" r:id="rId22"/>
    <p:sldId id="306" r:id="rId23"/>
    <p:sldId id="307" r:id="rId24"/>
    <p:sldId id="308" r:id="rId25"/>
    <p:sldId id="296" r:id="rId26"/>
    <p:sldId id="298" r:id="rId27"/>
    <p:sldId id="300" r:id="rId28"/>
    <p:sldId id="302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</p:sldIdLst>
  <p:sldSz cx="12598400" cy="6858000"/>
  <p:notesSz cx="125984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0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4880" y="2125980"/>
            <a:ext cx="1070864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89760" y="3840480"/>
            <a:ext cx="881888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29920" y="1577340"/>
            <a:ext cx="548030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88176" y="1577340"/>
            <a:ext cx="548030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076506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8100">
            <a:solidFill>
              <a:srgbClr val="FDC2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6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4290">
            <a:solidFill>
              <a:srgbClr val="FDC2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2156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11430">
            <a:solidFill>
              <a:srgbClr val="FDC2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181522" y="0"/>
            <a:ext cx="417195" cy="6858000"/>
          </a:xfrm>
          <a:custGeom>
            <a:avLst/>
            <a:gdLst/>
            <a:ahLst/>
            <a:cxnLst/>
            <a:rect l="l" t="t" r="r" b="b"/>
            <a:pathLst>
              <a:path w="417195" h="6858000">
                <a:moveTo>
                  <a:pt x="0" y="6858000"/>
                </a:moveTo>
                <a:lnTo>
                  <a:pt x="0" y="0"/>
                </a:lnTo>
                <a:lnTo>
                  <a:pt x="416877" y="0"/>
                </a:lnTo>
                <a:lnTo>
                  <a:pt x="4168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2AC">
              <a:alpha val="866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286538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40604" y="5715000"/>
            <a:ext cx="756285" cy="548640"/>
          </a:xfrm>
          <a:custGeom>
            <a:avLst/>
            <a:gdLst/>
            <a:ahLst/>
            <a:cxnLst/>
            <a:rect l="l" t="t" r="r" b="b"/>
            <a:pathLst>
              <a:path w="756284" h="548639">
                <a:moveTo>
                  <a:pt x="378040" y="0"/>
                </a:moveTo>
                <a:lnTo>
                  <a:pt x="322176" y="2974"/>
                </a:lnTo>
                <a:lnTo>
                  <a:pt x="268857" y="11614"/>
                </a:lnTo>
                <a:lnTo>
                  <a:pt x="218667" y="25496"/>
                </a:lnTo>
                <a:lnTo>
                  <a:pt x="172192" y="44195"/>
                </a:lnTo>
                <a:lnTo>
                  <a:pt x="130017" y="67287"/>
                </a:lnTo>
                <a:lnTo>
                  <a:pt x="92726" y="94347"/>
                </a:lnTo>
                <a:lnTo>
                  <a:pt x="60904" y="124951"/>
                </a:lnTo>
                <a:lnTo>
                  <a:pt x="35135" y="158675"/>
                </a:lnTo>
                <a:lnTo>
                  <a:pt x="16005" y="195094"/>
                </a:lnTo>
                <a:lnTo>
                  <a:pt x="4098" y="233784"/>
                </a:lnTo>
                <a:lnTo>
                  <a:pt x="0" y="274319"/>
                </a:lnTo>
                <a:lnTo>
                  <a:pt x="4098" y="314855"/>
                </a:lnTo>
                <a:lnTo>
                  <a:pt x="16005" y="353545"/>
                </a:lnTo>
                <a:lnTo>
                  <a:pt x="35135" y="389964"/>
                </a:lnTo>
                <a:lnTo>
                  <a:pt x="60904" y="423688"/>
                </a:lnTo>
                <a:lnTo>
                  <a:pt x="92726" y="454292"/>
                </a:lnTo>
                <a:lnTo>
                  <a:pt x="130017" y="481352"/>
                </a:lnTo>
                <a:lnTo>
                  <a:pt x="172192" y="504444"/>
                </a:lnTo>
                <a:lnTo>
                  <a:pt x="218667" y="523143"/>
                </a:lnTo>
                <a:lnTo>
                  <a:pt x="268857" y="537025"/>
                </a:lnTo>
                <a:lnTo>
                  <a:pt x="322176" y="545665"/>
                </a:lnTo>
                <a:lnTo>
                  <a:pt x="378040" y="548640"/>
                </a:lnTo>
                <a:lnTo>
                  <a:pt x="433908" y="545665"/>
                </a:lnTo>
                <a:lnTo>
                  <a:pt x="487230" y="537025"/>
                </a:lnTo>
                <a:lnTo>
                  <a:pt x="537421" y="523143"/>
                </a:lnTo>
                <a:lnTo>
                  <a:pt x="583898" y="504444"/>
                </a:lnTo>
                <a:lnTo>
                  <a:pt x="626074" y="481352"/>
                </a:lnTo>
                <a:lnTo>
                  <a:pt x="663366" y="454292"/>
                </a:lnTo>
                <a:lnTo>
                  <a:pt x="695189" y="423688"/>
                </a:lnTo>
                <a:lnTo>
                  <a:pt x="720958" y="389964"/>
                </a:lnTo>
                <a:lnTo>
                  <a:pt x="740088" y="353545"/>
                </a:lnTo>
                <a:lnTo>
                  <a:pt x="751995" y="314855"/>
                </a:lnTo>
                <a:lnTo>
                  <a:pt x="756094" y="274319"/>
                </a:lnTo>
                <a:lnTo>
                  <a:pt x="751995" y="233784"/>
                </a:lnTo>
                <a:lnTo>
                  <a:pt x="740088" y="195094"/>
                </a:lnTo>
                <a:lnTo>
                  <a:pt x="720958" y="158675"/>
                </a:lnTo>
                <a:lnTo>
                  <a:pt x="695189" y="124951"/>
                </a:lnTo>
                <a:lnTo>
                  <a:pt x="663366" y="94347"/>
                </a:lnTo>
                <a:lnTo>
                  <a:pt x="626074" y="67287"/>
                </a:lnTo>
                <a:lnTo>
                  <a:pt x="583898" y="44195"/>
                </a:lnTo>
                <a:lnTo>
                  <a:pt x="537421" y="25496"/>
                </a:lnTo>
                <a:lnTo>
                  <a:pt x="487230" y="11614"/>
                </a:lnTo>
                <a:lnTo>
                  <a:pt x="433908" y="2974"/>
                </a:lnTo>
                <a:lnTo>
                  <a:pt x="37804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07650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099">
            <a:solidFill>
              <a:srgbClr val="FDC1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4290">
            <a:solidFill>
              <a:srgbClr val="FDC1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215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11429">
            <a:solidFill>
              <a:srgbClr val="FDC1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181521" y="0"/>
            <a:ext cx="417195" cy="6858000"/>
          </a:xfrm>
          <a:custGeom>
            <a:avLst/>
            <a:gdLst/>
            <a:ahLst/>
            <a:cxnLst/>
            <a:rect l="l" t="t" r="r" b="b"/>
            <a:pathLst>
              <a:path w="417195" h="6858000">
                <a:moveTo>
                  <a:pt x="0" y="6857999"/>
                </a:moveTo>
                <a:lnTo>
                  <a:pt x="0" y="0"/>
                </a:lnTo>
                <a:lnTo>
                  <a:pt x="416878" y="0"/>
                </a:lnTo>
                <a:lnTo>
                  <a:pt x="41687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DC1AB">
              <a:alpha val="8666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28653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4">
            <a:solidFill>
              <a:srgbClr val="FD86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40604" y="5715000"/>
            <a:ext cx="756285" cy="548640"/>
          </a:xfrm>
          <a:custGeom>
            <a:avLst/>
            <a:gdLst/>
            <a:ahLst/>
            <a:cxnLst/>
            <a:rect l="l" t="t" r="r" b="b"/>
            <a:pathLst>
              <a:path w="756284" h="548639">
                <a:moveTo>
                  <a:pt x="378047" y="548639"/>
                </a:moveTo>
                <a:lnTo>
                  <a:pt x="322182" y="545665"/>
                </a:lnTo>
                <a:lnTo>
                  <a:pt x="268862" y="537025"/>
                </a:lnTo>
                <a:lnTo>
                  <a:pt x="218672" y="523143"/>
                </a:lnTo>
                <a:lnTo>
                  <a:pt x="172196" y="504445"/>
                </a:lnTo>
                <a:lnTo>
                  <a:pt x="130020" y="481353"/>
                </a:lnTo>
                <a:lnTo>
                  <a:pt x="92728" y="454293"/>
                </a:lnTo>
                <a:lnTo>
                  <a:pt x="60905" y="423689"/>
                </a:lnTo>
                <a:lnTo>
                  <a:pt x="35136" y="389966"/>
                </a:lnTo>
                <a:lnTo>
                  <a:pt x="16006" y="353547"/>
                </a:lnTo>
                <a:lnTo>
                  <a:pt x="4099" y="314856"/>
                </a:lnTo>
                <a:lnTo>
                  <a:pt x="0" y="274319"/>
                </a:lnTo>
                <a:lnTo>
                  <a:pt x="4099" y="233782"/>
                </a:lnTo>
                <a:lnTo>
                  <a:pt x="16006" y="195092"/>
                </a:lnTo>
                <a:lnTo>
                  <a:pt x="35136" y="158673"/>
                </a:lnTo>
                <a:lnTo>
                  <a:pt x="60905" y="124949"/>
                </a:lnTo>
                <a:lnTo>
                  <a:pt x="92728" y="94345"/>
                </a:lnTo>
                <a:lnTo>
                  <a:pt x="130020" y="67286"/>
                </a:lnTo>
                <a:lnTo>
                  <a:pt x="172196" y="44194"/>
                </a:lnTo>
                <a:lnTo>
                  <a:pt x="218672" y="25495"/>
                </a:lnTo>
                <a:lnTo>
                  <a:pt x="268862" y="11614"/>
                </a:lnTo>
                <a:lnTo>
                  <a:pt x="322182" y="2974"/>
                </a:lnTo>
                <a:lnTo>
                  <a:pt x="378047" y="0"/>
                </a:lnTo>
                <a:lnTo>
                  <a:pt x="433912" y="2974"/>
                </a:lnTo>
                <a:lnTo>
                  <a:pt x="487232" y="11614"/>
                </a:lnTo>
                <a:lnTo>
                  <a:pt x="537422" y="25495"/>
                </a:lnTo>
                <a:lnTo>
                  <a:pt x="583898" y="44194"/>
                </a:lnTo>
                <a:lnTo>
                  <a:pt x="626074" y="67286"/>
                </a:lnTo>
                <a:lnTo>
                  <a:pt x="663366" y="94345"/>
                </a:lnTo>
                <a:lnTo>
                  <a:pt x="695189" y="124949"/>
                </a:lnTo>
                <a:lnTo>
                  <a:pt x="720958" y="158673"/>
                </a:lnTo>
                <a:lnTo>
                  <a:pt x="740088" y="195092"/>
                </a:lnTo>
                <a:lnTo>
                  <a:pt x="751995" y="233782"/>
                </a:lnTo>
                <a:lnTo>
                  <a:pt x="756094" y="274319"/>
                </a:lnTo>
                <a:lnTo>
                  <a:pt x="751995" y="314856"/>
                </a:lnTo>
                <a:lnTo>
                  <a:pt x="740088" y="353547"/>
                </a:lnTo>
                <a:lnTo>
                  <a:pt x="720958" y="389966"/>
                </a:lnTo>
                <a:lnTo>
                  <a:pt x="695189" y="423689"/>
                </a:lnTo>
                <a:lnTo>
                  <a:pt x="663366" y="454293"/>
                </a:lnTo>
                <a:lnTo>
                  <a:pt x="626074" y="481353"/>
                </a:lnTo>
                <a:lnTo>
                  <a:pt x="583898" y="504445"/>
                </a:lnTo>
                <a:lnTo>
                  <a:pt x="537422" y="523143"/>
                </a:lnTo>
                <a:lnTo>
                  <a:pt x="487232" y="537025"/>
                </a:lnTo>
                <a:lnTo>
                  <a:pt x="433912" y="545665"/>
                </a:lnTo>
                <a:lnTo>
                  <a:pt x="378047" y="548639"/>
                </a:lnTo>
                <a:close/>
              </a:path>
            </a:pathLst>
          </a:custGeom>
          <a:solidFill>
            <a:srgbClr val="FD86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3020" y="202205"/>
            <a:ext cx="1185235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9920" y="1577340"/>
            <a:ext cx="1133856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83456" y="6377940"/>
            <a:ext cx="4031488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29920" y="6377940"/>
            <a:ext cx="289763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95902" y="5887522"/>
            <a:ext cx="266700" cy="222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2696" y="2060676"/>
            <a:ext cx="8445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Security</a:t>
            </a:r>
            <a:r>
              <a:rPr sz="3600" spc="-40" dirty="0"/>
              <a:t> </a:t>
            </a:r>
            <a:r>
              <a:rPr sz="3600" dirty="0"/>
              <a:t>and</a:t>
            </a:r>
            <a:r>
              <a:rPr sz="3600" spc="-40" dirty="0"/>
              <a:t> </a:t>
            </a:r>
            <a:r>
              <a:rPr sz="3600" dirty="0"/>
              <a:t>Isolation</a:t>
            </a:r>
            <a:r>
              <a:rPr sz="3600" spc="-40" dirty="0"/>
              <a:t> </a:t>
            </a:r>
            <a:r>
              <a:rPr sz="3600" dirty="0"/>
              <a:t>in</a:t>
            </a:r>
            <a:r>
              <a:rPr sz="3600" spc="-45" dirty="0"/>
              <a:t> </a:t>
            </a:r>
            <a:r>
              <a:rPr sz="3600" dirty="0"/>
              <a:t>Operating</a:t>
            </a:r>
            <a:r>
              <a:rPr sz="3600" spc="-35" dirty="0"/>
              <a:t> </a:t>
            </a:r>
            <a:r>
              <a:rPr sz="3600" spc="-10" dirty="0"/>
              <a:t>System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354" y="3359632"/>
            <a:ext cx="2159000" cy="17930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89200" y="1143000"/>
            <a:ext cx="5672297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165" dirty="0"/>
              <a:t>Kernel</a:t>
            </a:r>
            <a:r>
              <a:rPr cap="small" spc="60" dirty="0"/>
              <a:t> </a:t>
            </a:r>
            <a:r>
              <a:rPr cap="small" spc="-200" dirty="0"/>
              <a:t>security</a:t>
            </a:r>
            <a:r>
              <a:rPr cap="small" spc="55" dirty="0"/>
              <a:t> </a:t>
            </a:r>
            <a:r>
              <a:rPr cap="small" spc="-250" dirty="0"/>
              <a:t>mechanisms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55600" y="2057400"/>
            <a:ext cx="11602720" cy="15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mechanisms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critical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(OS)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ensure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integrity,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confidentiality,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availability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0" dirty="0">
                <a:latin typeface="Times New Roman"/>
                <a:cs typeface="Times New Roman"/>
              </a:rPr>
              <a:t> resources.</a:t>
            </a:r>
            <a:endParaRPr sz="2400" dirty="0">
              <a:latin typeface="Times New Roman"/>
              <a:cs typeface="Times New Roman"/>
            </a:endParaRPr>
          </a:p>
          <a:p>
            <a:pPr marL="307975" marR="747395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unrestricted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hardware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manages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target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attacks.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03600" y="202885"/>
            <a:ext cx="483997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dirty="0"/>
              <a:t>Key</a:t>
            </a:r>
            <a:r>
              <a:rPr sz="2650" spc="55" dirty="0"/>
              <a:t> </a:t>
            </a:r>
            <a:r>
              <a:rPr sz="2650" dirty="0"/>
              <a:t>kernel</a:t>
            </a:r>
            <a:r>
              <a:rPr sz="2650" spc="65" dirty="0"/>
              <a:t> </a:t>
            </a:r>
            <a:r>
              <a:rPr sz="2650" dirty="0"/>
              <a:t>security</a:t>
            </a:r>
            <a:r>
              <a:rPr sz="2650" spc="70" dirty="0"/>
              <a:t> </a:t>
            </a:r>
            <a:r>
              <a:rPr sz="2650" spc="-10" dirty="0"/>
              <a:t>mechanisms:</a:t>
            </a:r>
            <a:endParaRPr sz="265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75732" y="637225"/>
            <a:ext cx="11633200" cy="53721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20040" indent="-28194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20040" algn="l"/>
              </a:tabLst>
            </a:pPr>
            <a:r>
              <a:rPr sz="2200" b="1" dirty="0">
                <a:latin typeface="Times New Roman"/>
                <a:cs typeface="Times New Roman"/>
              </a:rPr>
              <a:t>Kernel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Hardening:</a:t>
            </a:r>
            <a:endParaRPr sz="2200" dirty="0">
              <a:latin typeface="Times New Roman"/>
              <a:cs typeface="Times New Roman"/>
            </a:endParaRPr>
          </a:p>
          <a:p>
            <a:pPr marL="312420" marR="269875" lvl="1" indent="-2946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hardening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involves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modifying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kernel's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default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behavior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reduce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attack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surface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resilient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attacks.</a:t>
            </a:r>
            <a:endParaRPr sz="2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2200" b="1" spc="-10" dirty="0">
                <a:latin typeface="Times New Roman"/>
                <a:cs typeface="Times New Roman"/>
              </a:rPr>
              <a:t>Methods:</a:t>
            </a:r>
            <a:endParaRPr sz="2200" dirty="0">
              <a:latin typeface="Times New Roman"/>
              <a:cs typeface="Times New Roman"/>
            </a:endParaRPr>
          </a:p>
          <a:p>
            <a:pPr marL="312420" marR="17145" lvl="1" indent="-300355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Restricting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access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to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kernel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logs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pointers:</a:t>
            </a:r>
            <a:r>
              <a:rPr sz="2200" b="1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sensitive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preventing unauthorized manipulation of kernel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memory.</a:t>
            </a:r>
            <a:endParaRPr sz="2200" dirty="0">
              <a:latin typeface="Times New Roman"/>
              <a:cs typeface="Times New Roman"/>
            </a:endParaRPr>
          </a:p>
          <a:p>
            <a:pPr marL="312420" marR="89535" lvl="1" indent="-300355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Kernel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Lockdown: </a:t>
            </a:r>
            <a:r>
              <a:rPr sz="2200" dirty="0">
                <a:latin typeface="Times New Roman"/>
                <a:cs typeface="Times New Roman"/>
              </a:rPr>
              <a:t>Prevents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unauthorized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modifications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image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security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cryptographic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memory.</a:t>
            </a:r>
            <a:endParaRPr sz="2200" dirty="0">
              <a:latin typeface="Times New Roman"/>
              <a:cs typeface="Times New Roman"/>
            </a:endParaRPr>
          </a:p>
          <a:p>
            <a:pPr marL="312420" marR="260985" lvl="1" indent="-300355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Seccomp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(Secure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Computing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Mode):</a:t>
            </a:r>
            <a:r>
              <a:rPr sz="2200" b="1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Restricts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reducing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its </a:t>
            </a:r>
            <a:r>
              <a:rPr sz="2200" dirty="0">
                <a:latin typeface="Times New Roman"/>
                <a:cs typeface="Times New Roman"/>
              </a:rPr>
              <a:t>attack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surface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potential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damage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malicious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code.</a:t>
            </a:r>
            <a:endParaRPr sz="2200" dirty="0">
              <a:latin typeface="Times New Roman"/>
              <a:cs typeface="Times New Roman"/>
            </a:endParaRPr>
          </a:p>
          <a:p>
            <a:pPr marL="312420" marR="5080" lvl="1" indent="-300355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BPF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hardening: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BPF (Berkeley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Packet Filter) is a system 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 load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execute bytecode </a:t>
            </a:r>
            <a:r>
              <a:rPr sz="2200" spc="-10" dirty="0">
                <a:latin typeface="Times New Roman"/>
                <a:cs typeface="Times New Roman"/>
              </a:rPr>
              <a:t>within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 dynamically during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runtime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Linux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subsystems.</a:t>
            </a:r>
            <a:endParaRPr sz="2200" dirty="0">
              <a:latin typeface="Times New Roman"/>
              <a:cs typeface="Times New Roman"/>
            </a:endParaRPr>
          </a:p>
          <a:p>
            <a:pPr marL="312420" marR="546735" lvl="1" indent="-300355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Kernel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Control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Flow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Integrity (KCFI):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Hardens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against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attacks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modify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kernel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flow.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716" y="151298"/>
            <a:ext cx="11431905" cy="58318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8455" indent="-304800">
              <a:lnSpc>
                <a:spcPct val="100000"/>
              </a:lnSpc>
              <a:spcBef>
                <a:spcPts val="700"/>
              </a:spcBef>
              <a:buAutoNum type="arabicPeriod" startAt="2"/>
              <a:tabLst>
                <a:tab pos="338455" algn="l"/>
              </a:tabLst>
            </a:pPr>
            <a:r>
              <a:rPr sz="2400" b="1" dirty="0">
                <a:latin typeface="Times New Roman"/>
                <a:cs typeface="Times New Roman"/>
              </a:rPr>
              <a:t>Security </a:t>
            </a:r>
            <a:r>
              <a:rPr sz="2400" b="1" spc="-10" dirty="0">
                <a:latin typeface="Times New Roman"/>
                <a:cs typeface="Times New Roman"/>
              </a:rPr>
              <a:t>Patches:</a:t>
            </a:r>
            <a:endParaRPr sz="2400">
              <a:latin typeface="Times New Roman"/>
              <a:cs typeface="Times New Roman"/>
            </a:endParaRPr>
          </a:p>
          <a:p>
            <a:pPr marL="307975" marR="234950" lvl="1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Regularly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applying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patches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crucial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mitigating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vulnerabilities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preventing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malicious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exploitation.</a:t>
            </a:r>
            <a:endParaRPr sz="2400">
              <a:latin typeface="Times New Roman"/>
              <a:cs typeface="Times New Roman"/>
            </a:endParaRPr>
          </a:p>
          <a:p>
            <a:pPr marL="307975" marR="5080" lvl="1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frequently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patched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discovered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flaws,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making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vital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up-to-</a:t>
            </a:r>
            <a:r>
              <a:rPr sz="2400" dirty="0">
                <a:latin typeface="Times New Roman"/>
                <a:cs typeface="Times New Roman"/>
              </a:rPr>
              <a:t>date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latest</a:t>
            </a:r>
            <a:r>
              <a:rPr sz="2400" spc="-10" dirty="0">
                <a:latin typeface="Times New Roman"/>
                <a:cs typeface="Times New Roman"/>
              </a:rPr>
              <a:t> updates.</a:t>
            </a:r>
            <a:endParaRPr sz="240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Times New Roman"/>
                <a:cs typeface="Times New Roman"/>
              </a:rPr>
              <a:t>3.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Control:</a:t>
            </a:r>
            <a:endParaRPr sz="2400">
              <a:latin typeface="Times New Roman"/>
              <a:cs typeface="Times New Roman"/>
            </a:endParaRPr>
          </a:p>
          <a:p>
            <a:pPr marL="307975" marR="528320" indent="-295910">
              <a:lnSpc>
                <a:spcPct val="100000"/>
              </a:lnSpc>
              <a:spcBef>
                <a:spcPts val="600"/>
              </a:spcBef>
              <a:tabLst>
                <a:tab pos="307975" algn="l"/>
              </a:tabLst>
            </a:pPr>
            <a:r>
              <a:rPr sz="1650" spc="-480" dirty="0">
                <a:solidFill>
                  <a:srgbClr val="FD8637"/>
                </a:solidFill>
                <a:latin typeface="Segoe UI Symbol"/>
                <a:cs typeface="Segoe UI Symbol"/>
              </a:rPr>
              <a:t>□</a:t>
            </a:r>
            <a:r>
              <a:rPr sz="1650" dirty="0">
                <a:solidFill>
                  <a:srgbClr val="FD8637"/>
                </a:solidFill>
                <a:latin typeface="Segoe UI Symbol"/>
                <a:cs typeface="Segoe UI Symbol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Kernel-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mechanisms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authorized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entities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access </a:t>
            </a:r>
            <a:r>
              <a:rPr sz="2400" dirty="0">
                <a:latin typeface="Times New Roman"/>
                <a:cs typeface="Times New Roman"/>
              </a:rPr>
              <a:t>critical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components.</a:t>
            </a:r>
            <a:endParaRPr sz="240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600"/>
              </a:spcBef>
            </a:pPr>
            <a:r>
              <a:rPr sz="2400" b="1" spc="-10" dirty="0">
                <a:latin typeface="Times New Roman"/>
                <a:cs typeface="Times New Roman"/>
              </a:rPr>
              <a:t>Methods:</a:t>
            </a:r>
            <a:endParaRPr sz="2400">
              <a:latin typeface="Times New Roman"/>
              <a:cs typeface="Times New Roman"/>
            </a:endParaRPr>
          </a:p>
          <a:p>
            <a:pPr marL="307975" marR="374015" indent="-25019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Mandatory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Control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(MAC)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systems: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(Security-Enhanced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prominent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enforces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policies.</a:t>
            </a:r>
            <a:endParaRPr sz="240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Role-</a:t>
            </a:r>
            <a:r>
              <a:rPr sz="2400" b="1" dirty="0">
                <a:latin typeface="Times New Roman"/>
                <a:cs typeface="Times New Roman"/>
              </a:rPr>
              <a:t>Based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Control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(RBAC)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Grants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roles.</a:t>
            </a:r>
            <a:endParaRPr sz="2400">
              <a:latin typeface="Times New Roman"/>
              <a:cs typeface="Times New Roman"/>
            </a:endParaRPr>
          </a:p>
          <a:p>
            <a:pPr marL="307975" marR="149860" indent="-25019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Discretionary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Control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(DAC)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owners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permissions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Unix-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400" y="1371600"/>
            <a:ext cx="11259820" cy="38506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Kernel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Self-</a:t>
            </a:r>
            <a:r>
              <a:rPr sz="2400" b="1" spc="-10" dirty="0">
                <a:latin typeface="Times New Roman"/>
                <a:cs typeface="Times New Roman"/>
              </a:rPr>
              <a:t>Protection:</a:t>
            </a:r>
            <a:endParaRPr sz="2400" dirty="0">
              <a:latin typeface="Times New Roman"/>
              <a:cs typeface="Times New Roman"/>
            </a:endParaRPr>
          </a:p>
          <a:p>
            <a:pPr marL="307975" marR="226060" indent="-295910">
              <a:lnSpc>
                <a:spcPct val="100000"/>
              </a:lnSpc>
              <a:spcBef>
                <a:spcPts val="600"/>
              </a:spcBef>
              <a:tabLst>
                <a:tab pos="307975" algn="l"/>
              </a:tabLst>
            </a:pPr>
            <a:r>
              <a:rPr sz="1650" spc="-480" dirty="0">
                <a:solidFill>
                  <a:srgbClr val="FD8637"/>
                </a:solidFill>
                <a:latin typeface="Segoe UI Symbol"/>
                <a:cs typeface="Segoe UI Symbol"/>
              </a:rPr>
              <a:t>□</a:t>
            </a:r>
            <a:r>
              <a:rPr sz="1650" dirty="0">
                <a:solidFill>
                  <a:srgbClr val="FD8637"/>
                </a:solidFill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Protects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itself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vulnerabilities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attacks,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preventing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privilege escalation.</a:t>
            </a:r>
            <a:endParaRPr sz="2400" dirty="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600"/>
              </a:spcBef>
            </a:pPr>
            <a:r>
              <a:rPr sz="2400" b="1" spc="-10" dirty="0">
                <a:latin typeface="Times New Roman"/>
                <a:cs typeface="Times New Roman"/>
              </a:rPr>
              <a:t>Methods:</a:t>
            </a:r>
            <a:endParaRPr sz="2400" dirty="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Attack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surface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reduction: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Minimizing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potential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attack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vectors.</a:t>
            </a:r>
            <a:endParaRPr sz="2400" dirty="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Memory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integrity: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preventing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corruption.</a:t>
            </a:r>
            <a:endParaRPr sz="2400" dirty="0">
              <a:latin typeface="Times New Roman"/>
              <a:cs typeface="Times New Roman"/>
            </a:endParaRPr>
          </a:p>
          <a:p>
            <a:pPr marL="307975" marR="5080" indent="-25019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Probabilistic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defences: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harder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attackers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predict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vulnerabilities.</a:t>
            </a:r>
            <a:endParaRPr sz="2400" dirty="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Information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exposure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prevention: </a:t>
            </a:r>
            <a:r>
              <a:rPr sz="2400" dirty="0">
                <a:latin typeface="Times New Roman"/>
                <a:cs typeface="Times New Roman"/>
              </a:rPr>
              <a:t>Preventing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sensitive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leaked.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16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0600" y="380492"/>
            <a:ext cx="118523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cap="small" spc="-75" dirty="0"/>
              <a:t>SELinux</a:t>
            </a:r>
            <a:r>
              <a:rPr sz="2700" cap="small" spc="45" dirty="0"/>
              <a:t> </a:t>
            </a:r>
            <a:r>
              <a:rPr sz="2700" cap="small" spc="-140" dirty="0"/>
              <a:t>(Security-</a:t>
            </a:r>
            <a:r>
              <a:rPr sz="2700" cap="small" spc="-170" dirty="0"/>
              <a:t>Enhanced</a:t>
            </a:r>
            <a:r>
              <a:rPr sz="2700" cap="small" spc="50" dirty="0"/>
              <a:t> </a:t>
            </a:r>
            <a:r>
              <a:rPr sz="2700" cap="small" spc="-145" dirty="0"/>
              <a:t>Linux)</a:t>
            </a:r>
            <a:endParaRPr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279400" y="1002172"/>
            <a:ext cx="11608435" cy="52438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06705" indent="-294005" algn="just">
              <a:lnSpc>
                <a:spcPct val="100000"/>
              </a:lnSpc>
              <a:spcBef>
                <a:spcPts val="409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6705" algn="l"/>
              </a:tabLst>
            </a:pP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computers.</a:t>
            </a:r>
            <a:endParaRPr sz="2400" dirty="0">
              <a:latin typeface="Times New Roman"/>
              <a:cs typeface="Times New Roman"/>
            </a:endParaRPr>
          </a:p>
          <a:p>
            <a:pPr marL="306705" indent="-294005" algn="just">
              <a:lnSpc>
                <a:spcPct val="100000"/>
              </a:lnSpc>
              <a:spcBef>
                <a:spcPts val="31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670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keep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safe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secure.</a:t>
            </a:r>
            <a:endParaRPr sz="2400" dirty="0">
              <a:latin typeface="Times New Roman"/>
              <a:cs typeface="Times New Roman"/>
            </a:endParaRPr>
          </a:p>
          <a:p>
            <a:pPr marL="306070" marR="5080" indent="-294005" algn="just">
              <a:lnSpc>
                <a:spcPts val="2590"/>
              </a:lnSpc>
              <a:spcBef>
                <a:spcPts val="64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This 	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certain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	</a:t>
            </a:r>
            <a:r>
              <a:rPr sz="2400" dirty="0">
                <a:latin typeface="Times New Roman"/>
                <a:cs typeface="Times New Roman"/>
              </a:rPr>
              <a:t>allowed to </a:t>
            </a:r>
            <a:r>
              <a:rPr sz="2400" spc="-25" dirty="0">
                <a:latin typeface="Times New Roman"/>
                <a:cs typeface="Times New Roman"/>
              </a:rPr>
              <a:t>do.</a:t>
            </a:r>
            <a:endParaRPr sz="2400" dirty="0">
              <a:latin typeface="Times New Roman"/>
              <a:cs typeface="Times New Roman"/>
            </a:endParaRPr>
          </a:p>
          <a:p>
            <a:pPr marL="306705" indent="-294005" algn="just">
              <a:lnSpc>
                <a:spcPct val="100000"/>
              </a:lnSpc>
              <a:spcBef>
                <a:spcPts val="28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6705" algn="l"/>
              </a:tabLst>
            </a:pP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computers.</a:t>
            </a:r>
            <a:endParaRPr sz="2400" dirty="0">
              <a:latin typeface="Times New Roman"/>
              <a:cs typeface="Times New Roman"/>
            </a:endParaRPr>
          </a:p>
          <a:p>
            <a:pPr marL="306070" marR="941705" indent="-294005" algn="just">
              <a:lnSpc>
                <a:spcPts val="2590"/>
              </a:lnSpc>
              <a:spcBef>
                <a:spcPts val="64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purpose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	</a:t>
            </a:r>
            <a:r>
              <a:rPr sz="2400" dirty="0">
                <a:latin typeface="Times New Roman"/>
                <a:cs typeface="Times New Roman"/>
              </a:rPr>
              <a:t>allowed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computer.</a:t>
            </a:r>
            <a:endParaRPr sz="2400" dirty="0">
              <a:latin typeface="Times New Roman"/>
              <a:cs typeface="Times New Roman"/>
            </a:endParaRPr>
          </a:p>
          <a:p>
            <a:pPr marL="306705" indent="-294005" algn="just">
              <a:lnSpc>
                <a:spcPct val="100000"/>
              </a:lnSpc>
              <a:spcBef>
                <a:spcPts val="275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670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rules.</a:t>
            </a:r>
            <a:endParaRPr sz="2400" dirty="0">
              <a:latin typeface="Times New Roman"/>
              <a:cs typeface="Times New Roman"/>
            </a:endParaRPr>
          </a:p>
          <a:p>
            <a:pPr marL="307975" marR="63500" indent="-295910">
              <a:lnSpc>
                <a:spcPts val="2590"/>
              </a:lnSpc>
              <a:spcBef>
                <a:spcPts val="64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virus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hacker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all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bad.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limited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25" dirty="0">
                <a:latin typeface="Times New Roman"/>
                <a:cs typeface="Times New Roman"/>
              </a:rPr>
              <a:t>do.</a:t>
            </a:r>
            <a:endParaRPr sz="2400" dirty="0">
              <a:latin typeface="Times New Roman"/>
              <a:cs typeface="Times New Roman"/>
            </a:endParaRPr>
          </a:p>
          <a:p>
            <a:pPr marL="307975" marR="133985" indent="-295910">
              <a:lnSpc>
                <a:spcPts val="2590"/>
              </a:lnSpc>
              <a:spcBef>
                <a:spcPts val="605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browser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websites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private </a:t>
            </a:r>
            <a:r>
              <a:rPr sz="2400" dirty="0">
                <a:latin typeface="Times New Roman"/>
                <a:cs typeface="Times New Roman"/>
              </a:rPr>
              <a:t>documents.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viruses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hackers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damage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200" y="6190884"/>
            <a:ext cx="1134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program.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65728" y="5868162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79600" y="235439"/>
            <a:ext cx="73152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145" dirty="0"/>
              <a:t>How</a:t>
            </a:r>
            <a:r>
              <a:rPr cap="small" spc="40" dirty="0"/>
              <a:t> </a:t>
            </a:r>
            <a:r>
              <a:rPr cap="small" spc="-170" dirty="0"/>
              <a:t>Security-</a:t>
            </a:r>
            <a:r>
              <a:rPr cap="small" spc="-190" dirty="0"/>
              <a:t>Enhanced</a:t>
            </a:r>
            <a:r>
              <a:rPr cap="small" spc="40" dirty="0"/>
              <a:t> </a:t>
            </a:r>
            <a:r>
              <a:rPr cap="small" spc="-135" dirty="0"/>
              <a:t>Linux</a:t>
            </a:r>
            <a:r>
              <a:rPr cap="small" spc="40" dirty="0"/>
              <a:t> </a:t>
            </a:r>
            <a:r>
              <a:rPr cap="small" spc="-185" dirty="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716" y="794239"/>
            <a:ext cx="11386820" cy="50241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7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mandatory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(MAC).</a:t>
            </a:r>
            <a:endParaRPr sz="2400" dirty="0">
              <a:latin typeface="Times New Roman"/>
              <a:cs typeface="Times New Roman"/>
            </a:endParaRPr>
          </a:p>
          <a:p>
            <a:pPr marL="307975" marR="8128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sysadmins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resources </a:t>
            </a:r>
            <a:r>
              <a:rPr sz="2400" dirty="0">
                <a:latin typeface="Times New Roman"/>
                <a:cs typeface="Times New Roman"/>
              </a:rPr>
              <a:t>rather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relying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broadly-defined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permissions.</a:t>
            </a:r>
            <a:endParaRPr sz="2400" dirty="0">
              <a:latin typeface="Times New Roman"/>
              <a:cs typeface="Times New Roman"/>
            </a:endParaRPr>
          </a:p>
          <a:p>
            <a:pPr marL="307975" indent="-29527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accomplish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0" dirty="0">
                <a:latin typeface="Times New Roman"/>
                <a:cs typeface="Times New Roman"/>
              </a:rPr>
              <a:t> policies.</a:t>
            </a:r>
            <a:endParaRPr sz="2400" dirty="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Times New Roman"/>
                <a:cs typeface="Times New Roman"/>
              </a:rPr>
              <a:t>SELinux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Policies</a:t>
            </a:r>
            <a:endParaRPr sz="2400" dirty="0">
              <a:latin typeface="Times New Roman"/>
              <a:cs typeface="Times New Roman"/>
            </a:endParaRPr>
          </a:p>
          <a:p>
            <a:pPr marL="307975" marR="941069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default,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those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 </a:t>
            </a:r>
            <a:r>
              <a:rPr sz="2400" spc="-10" dirty="0">
                <a:latin typeface="Times New Roman"/>
                <a:cs typeface="Times New Roman"/>
              </a:rPr>
              <a:t>policies.</a:t>
            </a:r>
            <a:endParaRPr sz="2400" dirty="0">
              <a:latin typeface="Times New Roman"/>
              <a:cs typeface="Times New Roman"/>
            </a:endParaRPr>
          </a:p>
          <a:p>
            <a:pPr marL="307975" marR="508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policies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parts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system.</a:t>
            </a:r>
            <a:endParaRPr sz="2400" dirty="0">
              <a:latin typeface="Times New Roman"/>
              <a:cs typeface="Times New Roman"/>
            </a:endParaRPr>
          </a:p>
          <a:p>
            <a:pPr marL="307975" indent="-29527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resource.</a:t>
            </a:r>
            <a:endParaRPr sz="2400" dirty="0">
              <a:latin typeface="Times New Roman"/>
              <a:cs typeface="Times New Roman"/>
            </a:endParaRPr>
          </a:p>
          <a:p>
            <a:pPr marL="307975" marR="19685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keeps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(allow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Vector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Cache (AVC).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716" y="5869159"/>
            <a:ext cx="5255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1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faster.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65728" y="5868162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3272" y="174279"/>
            <a:ext cx="10876280" cy="98171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06705" marR="5080" indent="-294640">
              <a:lnSpc>
                <a:spcPts val="2130"/>
              </a:lnSpc>
              <a:spcBef>
                <a:spcPts val="61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tries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something,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SELinux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checks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AVC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decision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has </a:t>
            </a:r>
            <a:r>
              <a:rPr sz="2200" dirty="0">
                <a:latin typeface="Times New Roman"/>
                <a:cs typeface="Times New Roman"/>
              </a:rPr>
              <a:t>already been made.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 so,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follows 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decision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quickly.</a:t>
            </a:r>
            <a:endParaRPr sz="22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10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SELinux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looks at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policy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rules 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makes 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 </a:t>
            </a:r>
            <a:r>
              <a:rPr sz="2200" spc="-10" dirty="0">
                <a:latin typeface="Times New Roman"/>
                <a:cs typeface="Times New Roman"/>
              </a:rPr>
              <a:t>decision.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272" y="4954152"/>
            <a:ext cx="11261090" cy="981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12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 feature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SELinux can give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permissions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 different </a:t>
            </a:r>
            <a:r>
              <a:rPr sz="2200" spc="-10" dirty="0">
                <a:latin typeface="Times New Roman"/>
                <a:cs typeface="Times New Roman"/>
              </a:rPr>
              <a:t>programs.</a:t>
            </a:r>
            <a:endParaRPr sz="2200">
              <a:latin typeface="Times New Roman"/>
              <a:cs typeface="Times New Roman"/>
            </a:endParaRPr>
          </a:p>
          <a:p>
            <a:pPr marL="306705" marR="5080" indent="-294640">
              <a:lnSpc>
                <a:spcPts val="2130"/>
              </a:lnSpc>
              <a:spcBef>
                <a:spcPts val="58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For example, 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web server program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might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allowed to read and write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files, but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 </a:t>
            </a:r>
            <a:r>
              <a:rPr sz="2200" spc="-10" dirty="0">
                <a:latin typeface="Times New Roman"/>
                <a:cs typeface="Times New Roman"/>
              </a:rPr>
              <a:t>programs </a:t>
            </a:r>
            <a:r>
              <a:rPr sz="2200" dirty="0">
                <a:latin typeface="Times New Roman"/>
                <a:cs typeface="Times New Roman"/>
              </a:rPr>
              <a:t>cannot.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SELinux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check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conditions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access.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Maybe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web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only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340" y="5842340"/>
            <a:ext cx="6134100" cy="36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latin typeface="Times New Roman"/>
                <a:cs typeface="Times New Roman"/>
              </a:rPr>
              <a:t>read/write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 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trusted </a:t>
            </a:r>
            <a:r>
              <a:rPr sz="2200" spc="-10" dirty="0">
                <a:latin typeface="Times New Roman"/>
                <a:cs typeface="Times New Roman"/>
              </a:rPr>
              <a:t>address.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65728" y="5868162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623" y="1491601"/>
            <a:ext cx="9572691" cy="28203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8000" y="1066800"/>
            <a:ext cx="11521440" cy="4445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latin typeface="Times New Roman"/>
                <a:cs typeface="Times New Roman"/>
              </a:rPr>
              <a:t>SELinux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Labels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Type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Enforcement</a:t>
            </a:r>
            <a:endParaRPr sz="2400" dirty="0">
              <a:latin typeface="Times New Roman"/>
              <a:cs typeface="Times New Roman"/>
            </a:endParaRPr>
          </a:p>
          <a:p>
            <a:pPr marL="35687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labels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policy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resource.</a:t>
            </a:r>
            <a:endParaRPr sz="2400" dirty="0">
              <a:latin typeface="Times New Roman"/>
              <a:cs typeface="Times New Roman"/>
            </a:endParaRPr>
          </a:p>
          <a:p>
            <a:pPr marL="82550" marR="3648710" indent="-21590">
              <a:lnSpc>
                <a:spcPct val="120800"/>
              </a:lnSpc>
              <a:buClr>
                <a:srgbClr val="FD8637"/>
              </a:buClr>
              <a:buSzPct val="68750"/>
              <a:buFont typeface="Segoe UI Symbol"/>
              <a:buChar char="□"/>
              <a:tabLst>
                <a:tab pos="82550" algn="l"/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	Admins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labels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 </a:t>
            </a:r>
            <a:r>
              <a:rPr sz="2400" dirty="0">
                <a:latin typeface="Times New Roman"/>
                <a:cs typeface="Times New Roman"/>
              </a:rPr>
              <a:t>Labels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include: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mapped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user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Role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user's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authorized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enforced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(optional)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clearance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level</a:t>
            </a:r>
            <a:endParaRPr sz="2400" dirty="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Times New Roman"/>
                <a:cs typeface="Times New Roman"/>
              </a:rPr>
              <a:t>Label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format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600"/>
              </a:spcBef>
            </a:pPr>
            <a:r>
              <a:rPr sz="2400" i="1" spc="-10" dirty="0">
                <a:latin typeface="Times New Roman"/>
                <a:cs typeface="Times New Roman"/>
              </a:rPr>
              <a:t>user:role:type:level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8000" y="1600200"/>
            <a:ext cx="11518900" cy="28905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latin typeface="Times New Roman"/>
                <a:cs typeface="Times New Roman"/>
              </a:rPr>
              <a:t>SELinux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Modes</a:t>
            </a:r>
            <a:endParaRPr sz="2400" dirty="0">
              <a:latin typeface="Times New Roman"/>
              <a:cs typeface="Times New Roman"/>
            </a:endParaRPr>
          </a:p>
          <a:p>
            <a:pPr marL="287020" marR="396875" indent="-27432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87020" algn="l"/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	Enforcing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default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actively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enforces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policy </a:t>
            </a:r>
            <a:r>
              <a:rPr sz="2400" dirty="0">
                <a:latin typeface="Times New Roman"/>
                <a:cs typeface="Times New Roman"/>
              </a:rPr>
              <a:t>rules,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denying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unauthorized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attempts.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attempts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logged.</a:t>
            </a:r>
            <a:endParaRPr sz="2400" dirty="0">
              <a:latin typeface="Times New Roman"/>
              <a:cs typeface="Times New Roman"/>
            </a:endParaRPr>
          </a:p>
          <a:p>
            <a:pPr marL="287020" marR="119380" indent="-27432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87020" algn="l"/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	Permissive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blocked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policies,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doesn't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actually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testing.</a:t>
            </a:r>
            <a:endParaRPr sz="2400" dirty="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87020" algn="l"/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	Disabled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turned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removing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protection.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This </a:t>
            </a:r>
            <a:r>
              <a:rPr sz="2400" dirty="0">
                <a:latin typeface="Times New Roman"/>
                <a:cs typeface="Times New Roman"/>
              </a:rPr>
              <a:t>mode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troubleshooting.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17800" y="762000"/>
            <a:ext cx="118523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0"/>
              </a:spcBef>
            </a:pPr>
            <a:r>
              <a:rPr cap="small" spc="-215" dirty="0"/>
              <a:t>AppArmor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73020" y="1680647"/>
            <a:ext cx="11720195" cy="442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 marR="429259" indent="-294005" algn="just">
              <a:lnSpc>
                <a:spcPct val="100000"/>
              </a:lnSpc>
              <a:spcBef>
                <a:spcPts val="1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restricts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capabilities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 	</a:t>
            </a:r>
            <a:r>
              <a:rPr sz="2400" dirty="0">
                <a:latin typeface="Times New Roman"/>
                <a:cs typeface="Times New Roman"/>
              </a:rPr>
              <a:t>applying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profiles,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administrators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access 	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25" dirty="0">
                <a:latin typeface="Times New Roman"/>
                <a:cs typeface="Times New Roman"/>
              </a:rPr>
              <a:t>do.</a:t>
            </a:r>
            <a:endParaRPr sz="2400" dirty="0">
              <a:latin typeface="Times New Roman"/>
              <a:cs typeface="Times New Roman"/>
            </a:endParaRPr>
          </a:p>
          <a:p>
            <a:pPr marL="307975" marR="1480185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easy-to-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restricts </a:t>
            </a:r>
            <a:r>
              <a:rPr sz="2400" dirty="0">
                <a:latin typeface="Times New Roman"/>
                <a:cs typeface="Times New Roman"/>
              </a:rPr>
              <a:t>applications’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capabilities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profiles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per-</a:t>
            </a:r>
            <a:r>
              <a:rPr sz="2400" spc="-10" dirty="0">
                <a:latin typeface="Times New Roman"/>
                <a:cs typeface="Times New Roman"/>
              </a:rPr>
              <a:t>program.</a:t>
            </a:r>
            <a:endParaRPr sz="2400" dirty="0">
              <a:latin typeface="Times New Roman"/>
              <a:cs typeface="Times New Roman"/>
            </a:endParaRPr>
          </a:p>
          <a:p>
            <a:pPr marL="307975" marR="508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mandatory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(MAC)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supplement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model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discretionary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(DAC).</a:t>
            </a:r>
            <a:endParaRPr sz="2400" dirty="0">
              <a:latin typeface="Times New Roman"/>
              <a:cs typeface="Times New Roman"/>
            </a:endParaRPr>
          </a:p>
          <a:p>
            <a:pPr marL="307975" indent="-29527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version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2.6.36.</a:t>
            </a:r>
            <a:endParaRPr sz="2400" dirty="0">
              <a:latin typeface="Times New Roman"/>
              <a:cs typeface="Times New Roman"/>
            </a:endParaRPr>
          </a:p>
          <a:p>
            <a:pPr marL="307975" marR="113030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forbids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filesystem,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other </a:t>
            </a:r>
            <a:r>
              <a:rPr sz="2400" dirty="0">
                <a:latin typeface="Times New Roman"/>
                <a:cs typeface="Times New Roman"/>
              </a:rPr>
              <a:t>processes,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profiles.</a:t>
            </a:r>
            <a:endParaRPr sz="2400" dirty="0">
              <a:latin typeface="Times New Roman"/>
              <a:cs typeface="Times New Roman"/>
            </a:endParaRPr>
          </a:p>
          <a:p>
            <a:pPr marL="307975" indent="-29527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flaws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exploited.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14" y="214289"/>
            <a:ext cx="11308980" cy="54708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547" y="609600"/>
            <a:ext cx="10714355" cy="56946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700"/>
              </a:spcBef>
            </a:pPr>
            <a:r>
              <a:rPr sz="2400" b="1" spc="-10" dirty="0">
                <a:latin typeface="Times New Roman"/>
                <a:cs typeface="Times New Roman"/>
              </a:rPr>
              <a:t>AppArmor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Profiles</a:t>
            </a:r>
            <a:endParaRPr sz="2400" dirty="0">
              <a:latin typeface="Times New Roman"/>
              <a:cs typeface="Times New Roman"/>
            </a:endParaRPr>
          </a:p>
          <a:p>
            <a:pPr marL="356870" marR="2286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profiles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mandatory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(MAC) </a:t>
            </a:r>
            <a:r>
              <a:rPr sz="2400" dirty="0">
                <a:latin typeface="Times New Roman"/>
                <a:cs typeface="Times New Roman"/>
              </a:rPr>
              <a:t>policies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/etc/apparmor.d/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687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resources,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capabilities,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processes: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spc="-10" dirty="0">
                <a:latin typeface="Times New Roman"/>
                <a:cs typeface="Times New Roman"/>
              </a:rPr>
              <a:t>Files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Linux </a:t>
            </a:r>
            <a:r>
              <a:rPr sz="2400" spc="-10" dirty="0">
                <a:latin typeface="Times New Roman"/>
                <a:cs typeface="Times New Roman"/>
              </a:rPr>
              <a:t>capabilities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spc="-10" dirty="0">
                <a:latin typeface="Times New Roman"/>
                <a:cs typeface="Times New Roman"/>
              </a:rPr>
              <a:t>Network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Mount, remount, and </a:t>
            </a:r>
            <a:r>
              <a:rPr sz="2400" spc="-10" dirty="0">
                <a:latin typeface="Times New Roman"/>
                <a:cs typeface="Times New Roman"/>
              </a:rPr>
              <a:t>umount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spc="-10" dirty="0">
                <a:latin typeface="Times New Roman"/>
                <a:cs typeface="Times New Roman"/>
              </a:rPr>
              <a:t>pivot_root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spc="-10" dirty="0">
                <a:latin typeface="Times New Roman"/>
                <a:cs typeface="Times New Roman"/>
              </a:rPr>
              <a:t>ptrace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spc="-10" dirty="0">
                <a:latin typeface="Times New Roman"/>
                <a:cs typeface="Times New Roman"/>
              </a:rPr>
              <a:t>signal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spc="-20" dirty="0">
                <a:latin typeface="Times New Roman"/>
                <a:cs typeface="Times New Roman"/>
              </a:rPr>
              <a:t>DBus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Unix domain </a:t>
            </a:r>
            <a:r>
              <a:rPr sz="2400" spc="-10" dirty="0">
                <a:latin typeface="Times New Roman"/>
                <a:cs typeface="Times New Roman"/>
              </a:rPr>
              <a:t>sockets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7200" y="426212"/>
            <a:ext cx="7068820" cy="570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409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profiles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modes:</a:t>
            </a:r>
            <a:endParaRPr sz="2400" dirty="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315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Enforce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escape</a:t>
            </a:r>
            <a:endParaRPr sz="2400" dirty="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31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Complain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escape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logged</a:t>
            </a:r>
            <a:endParaRPr sz="2400" dirty="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31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Unconfined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escape</a:t>
            </a:r>
            <a:endParaRPr sz="2400" dirty="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profile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example: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3655" marR="3259454" algn="just">
              <a:lnSpc>
                <a:spcPct val="110800"/>
              </a:lnSpc>
            </a:pPr>
            <a:r>
              <a:rPr sz="2400" i="1" dirty="0">
                <a:latin typeface="Times New Roman"/>
                <a:cs typeface="Times New Roman"/>
              </a:rPr>
              <a:t>#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AppArmor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policy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for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appxyz </a:t>
            </a:r>
            <a:r>
              <a:rPr sz="2400" i="1" dirty="0">
                <a:latin typeface="Times New Roman"/>
                <a:cs typeface="Times New Roman"/>
              </a:rPr>
              <a:t>#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###Author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-10" dirty="0">
                <a:latin typeface="Times New Roman"/>
                <a:cs typeface="Times New Roman"/>
              </a:rPr>
              <a:t> copyright### </a:t>
            </a:r>
            <a:r>
              <a:rPr sz="2400" i="1" dirty="0">
                <a:latin typeface="Times New Roman"/>
                <a:cs typeface="Times New Roman"/>
              </a:rPr>
              <a:t># </a:t>
            </a:r>
            <a:r>
              <a:rPr sz="2400" i="1" spc="-10" dirty="0">
                <a:latin typeface="Times New Roman"/>
                <a:cs typeface="Times New Roman"/>
              </a:rPr>
              <a:t>###Comments###</a:t>
            </a:r>
            <a:endParaRPr sz="2400" dirty="0">
              <a:latin typeface="Times New Roman"/>
              <a:cs typeface="Times New Roman"/>
            </a:endParaRPr>
          </a:p>
          <a:p>
            <a:pPr marL="33655" algn="just">
              <a:lnSpc>
                <a:spcPct val="100000"/>
              </a:lnSpc>
              <a:spcBef>
                <a:spcPts val="315"/>
              </a:spcBef>
            </a:pPr>
            <a:r>
              <a:rPr sz="2400" i="1" dirty="0">
                <a:latin typeface="Times New Roman"/>
                <a:cs typeface="Times New Roman"/>
              </a:rPr>
              <a:t>#include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&lt;tunables/global&gt;</a:t>
            </a:r>
            <a:endParaRPr sz="2400" dirty="0">
              <a:latin typeface="Times New Roman"/>
              <a:cs typeface="Times New Roman"/>
            </a:endParaRPr>
          </a:p>
          <a:p>
            <a:pPr marL="33655" marR="2948940">
              <a:lnSpc>
                <a:spcPct val="110800"/>
              </a:lnSpc>
            </a:pPr>
            <a:r>
              <a:rPr sz="2400" i="1" dirty="0">
                <a:latin typeface="Times New Roman"/>
                <a:cs typeface="Times New Roman"/>
              </a:rPr>
              <a:t>#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No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template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variables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specified </a:t>
            </a:r>
            <a:r>
              <a:rPr sz="2400" i="1" dirty="0">
                <a:latin typeface="Times New Roman"/>
                <a:cs typeface="Times New Roman"/>
              </a:rPr>
              <a:t>"/usr/bin/appxyz"</a:t>
            </a:r>
            <a:r>
              <a:rPr sz="2400" i="1" spc="-9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{</a:t>
            </a:r>
            <a:endParaRPr sz="2400" dirty="0">
              <a:latin typeface="Times New Roman"/>
              <a:cs typeface="Times New Roman"/>
            </a:endParaRPr>
          </a:p>
          <a:p>
            <a:pPr marL="33655" marR="3345815">
              <a:lnSpc>
                <a:spcPct val="110800"/>
              </a:lnSpc>
            </a:pPr>
            <a:r>
              <a:rPr sz="2400" i="1" dirty="0">
                <a:latin typeface="Times New Roman"/>
                <a:cs typeface="Times New Roman"/>
              </a:rPr>
              <a:t>#include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&lt;abstractions/base&gt; </a:t>
            </a:r>
            <a:r>
              <a:rPr sz="2400" i="1" dirty="0">
                <a:latin typeface="Times New Roman"/>
                <a:cs typeface="Times New Roman"/>
              </a:rPr>
              <a:t>#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No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abstractions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specified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6720" y="6147562"/>
            <a:ext cx="3511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#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No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policy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groups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specified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21302" y="5868162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8000" y="1371600"/>
            <a:ext cx="11602085" cy="33324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700"/>
              </a:spcBef>
            </a:pPr>
            <a:r>
              <a:rPr sz="2400" b="1" spc="-10" dirty="0">
                <a:latin typeface="Times New Roman"/>
                <a:cs typeface="Times New Roman"/>
              </a:rPr>
              <a:t>AppArmor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vs.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SELinux</a:t>
            </a:r>
            <a:endParaRPr sz="2400" dirty="0">
              <a:latin typeface="Times New Roman"/>
              <a:cs typeface="Times New Roman"/>
            </a:endParaRPr>
          </a:p>
          <a:p>
            <a:pPr marL="307975" marR="1524635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unauthorized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differently.</a:t>
            </a:r>
            <a:endParaRPr sz="2400" dirty="0">
              <a:latin typeface="Times New Roman"/>
              <a:cs typeface="Times New Roman"/>
            </a:endParaRPr>
          </a:p>
          <a:p>
            <a:pPr marL="307975" marR="7366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actions.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policies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admins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resources.</a:t>
            </a:r>
            <a:endParaRPr sz="2400" dirty="0">
              <a:latin typeface="Times New Roman"/>
              <a:cs typeface="Times New Roman"/>
            </a:endParaRPr>
          </a:p>
          <a:p>
            <a:pPr marL="307975" indent="-29527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Ubuntu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distributions.</a:t>
            </a:r>
            <a:endParaRPr sz="2400" dirty="0">
              <a:latin typeface="Times New Roman"/>
              <a:cs typeface="Times New Roman"/>
            </a:endParaRPr>
          </a:p>
          <a:p>
            <a:pPr marL="307975" marR="508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AppArmor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easier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setup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but </a:t>
            </a:r>
            <a:r>
              <a:rPr sz="2400" dirty="0">
                <a:latin typeface="Times New Roman"/>
                <a:cs typeface="Times New Roman"/>
              </a:rPr>
              <a:t>gives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admins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detailed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0" dirty="0">
                <a:latin typeface="Times New Roman"/>
                <a:cs typeface="Times New Roman"/>
              </a:rPr>
              <a:t> permissions.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229" dirty="0"/>
              <a:t>WHY</a:t>
            </a:r>
            <a:r>
              <a:rPr spc="-180" dirty="0"/>
              <a:t> </a:t>
            </a:r>
            <a:r>
              <a:rPr spc="-30" dirty="0"/>
              <a:t>ASLR</a:t>
            </a:r>
            <a:r>
              <a:rPr spc="-150" dirty="0"/>
              <a:t> </a:t>
            </a:r>
            <a:r>
              <a:rPr spc="-375" dirty="0"/>
              <a:t>IS</a:t>
            </a:r>
            <a:r>
              <a:rPr spc="-114" dirty="0"/>
              <a:t> </a:t>
            </a:r>
            <a:r>
              <a:rPr spc="-10" dirty="0"/>
              <a:t>IMPORTANT?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020" y="1295400"/>
            <a:ext cx="6243320" cy="247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2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ASLR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protects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145" dirty="0">
                <a:latin typeface="Tahoma"/>
                <a:cs typeface="Tahoma"/>
              </a:rPr>
              <a:t>against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buffer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overflow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and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code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injection 	</a:t>
            </a:r>
            <a:r>
              <a:rPr sz="2000" spc="-10" dirty="0">
                <a:latin typeface="Tahoma"/>
                <a:cs typeface="Tahoma"/>
              </a:rPr>
              <a:t>attacks.</a:t>
            </a:r>
            <a:endParaRPr sz="2000" dirty="0">
              <a:latin typeface="Tahoma"/>
              <a:cs typeface="Tahoma"/>
            </a:endParaRPr>
          </a:p>
          <a:p>
            <a:pPr marL="201295" marR="711835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45" dirty="0">
                <a:latin typeface="Tahoma"/>
                <a:cs typeface="Tahoma"/>
              </a:rPr>
              <a:t>It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makes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memory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addresses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unpredictable,</a:t>
            </a:r>
            <a:r>
              <a:rPr sz="2000" spc="-40" dirty="0">
                <a:latin typeface="Tahoma"/>
                <a:cs typeface="Tahoma"/>
              </a:rPr>
              <a:t> forcing 	</a:t>
            </a:r>
            <a:r>
              <a:rPr sz="2000" spc="-85" dirty="0">
                <a:latin typeface="Tahoma"/>
                <a:cs typeface="Tahoma"/>
              </a:rPr>
              <a:t>attackers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55" dirty="0">
                <a:latin typeface="Tahoma"/>
                <a:cs typeface="Tahoma"/>
              </a:rPr>
              <a:t>guess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locations.</a:t>
            </a:r>
            <a:endParaRPr sz="2000" dirty="0">
              <a:latin typeface="Tahoma"/>
              <a:cs typeface="Tahoma"/>
            </a:endParaRPr>
          </a:p>
          <a:p>
            <a:pPr marL="201295" marR="762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dirty="0">
                <a:latin typeface="Tahoma"/>
                <a:cs typeface="Tahoma"/>
              </a:rPr>
              <a:t>Without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ASLR,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attackers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30" dirty="0">
                <a:latin typeface="Tahoma"/>
                <a:cs typeface="Tahoma"/>
              </a:rPr>
              <a:t>can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easily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exploit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vulnerabilities 	</a:t>
            </a:r>
            <a:r>
              <a:rPr sz="2000" spc="-65" dirty="0">
                <a:latin typeface="Tahoma"/>
                <a:cs typeface="Tahoma"/>
              </a:rPr>
              <a:t>in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programs.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3582627" y="4267200"/>
            <a:ext cx="6067425" cy="210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2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20" dirty="0">
                <a:latin typeface="Tahoma"/>
                <a:cs typeface="Tahoma"/>
              </a:rPr>
              <a:t>ASLR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30" dirty="0">
                <a:latin typeface="Tahoma"/>
                <a:cs typeface="Tahoma"/>
              </a:rPr>
              <a:t>can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be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bypassed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if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the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randomization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algorithm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is 	</a:t>
            </a:r>
            <a:r>
              <a:rPr sz="2000" spc="-10" dirty="0">
                <a:latin typeface="Tahoma"/>
                <a:cs typeface="Tahoma"/>
              </a:rPr>
              <a:t>weak.</a:t>
            </a:r>
            <a:endParaRPr sz="2000" dirty="0">
              <a:latin typeface="Tahoma"/>
              <a:cs typeface="Tahoma"/>
            </a:endParaRPr>
          </a:p>
          <a:p>
            <a:pPr marL="201930" indent="-189230">
              <a:spcBef>
                <a:spcPts val="1480"/>
              </a:spcBef>
              <a:buClr>
                <a:srgbClr val="B71E42"/>
              </a:buClr>
              <a:buFont typeface="Arial MT"/>
              <a:buChar char="•"/>
              <a:tabLst>
                <a:tab pos="201930" algn="l"/>
              </a:tabLst>
            </a:pPr>
            <a:r>
              <a:rPr sz="2000" spc="-40" dirty="0">
                <a:latin typeface="Tahoma"/>
                <a:cs typeface="Tahoma"/>
              </a:rPr>
              <a:t>Brute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force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attacks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30" dirty="0">
                <a:latin typeface="Tahoma"/>
                <a:cs typeface="Tahoma"/>
              </a:rPr>
              <a:t>can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55" dirty="0">
                <a:latin typeface="Tahoma"/>
                <a:cs typeface="Tahoma"/>
              </a:rPr>
              <a:t>guess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randomized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addresses.</a:t>
            </a:r>
            <a:endParaRPr sz="2000" dirty="0">
              <a:latin typeface="Tahoma"/>
              <a:cs typeface="Tahoma"/>
            </a:endParaRPr>
          </a:p>
          <a:p>
            <a:pPr marL="201295" marR="12446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20" dirty="0">
                <a:latin typeface="Tahoma"/>
                <a:cs typeface="Tahoma"/>
              </a:rPr>
              <a:t>ASLR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is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ineffective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if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combined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with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vulnerabilities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like 	</a:t>
            </a:r>
            <a:r>
              <a:rPr sz="2000" spc="-65" dirty="0">
                <a:latin typeface="Tahoma"/>
                <a:cs typeface="Tahoma"/>
              </a:rPr>
              <a:t>information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leakage.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403600" y="3657600"/>
            <a:ext cx="118523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pc="229" dirty="0" smtClean="0"/>
              <a:t>Limitations: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515634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195" dirty="0"/>
              <a:t>WHAT</a:t>
            </a:r>
            <a:r>
              <a:rPr spc="-110" dirty="0"/>
              <a:t> </a:t>
            </a:r>
            <a:r>
              <a:rPr spc="-375" dirty="0"/>
              <a:t>IS</a:t>
            </a:r>
            <a:r>
              <a:rPr spc="-110" dirty="0"/>
              <a:t> </a:t>
            </a:r>
            <a:r>
              <a:rPr spc="90" dirty="0"/>
              <a:t>STACK</a:t>
            </a:r>
            <a:r>
              <a:rPr spc="-114" dirty="0"/>
              <a:t> </a:t>
            </a:r>
            <a:r>
              <a:rPr spc="-10" dirty="0"/>
              <a:t>PROTECTION?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400" y="990600"/>
            <a:ext cx="9448800" cy="137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348615" indent="-189230">
              <a:lnSpc>
                <a:spcPct val="12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Stack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Protection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prevents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attackers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from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overwriting </a:t>
            </a:r>
            <a:r>
              <a:rPr sz="2000" spc="-30" dirty="0" smtClean="0">
                <a:latin typeface="Tahoma"/>
                <a:cs typeface="Tahoma"/>
              </a:rPr>
              <a:t>return</a:t>
            </a:r>
            <a:r>
              <a:rPr sz="2000" spc="-75" dirty="0" smtClean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addresses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on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the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stack.</a:t>
            </a:r>
            <a:endParaRPr sz="2000" dirty="0">
              <a:latin typeface="Tahoma"/>
              <a:cs typeface="Tahoma"/>
            </a:endParaRPr>
          </a:p>
          <a:p>
            <a:pPr marL="201295" marR="443865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45" dirty="0">
                <a:latin typeface="Tahoma"/>
                <a:cs typeface="Tahoma"/>
              </a:rPr>
              <a:t>It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is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designed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prevent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stack-</a:t>
            </a:r>
            <a:r>
              <a:rPr sz="2000" spc="-125" dirty="0">
                <a:latin typeface="Tahoma"/>
                <a:cs typeface="Tahoma"/>
              </a:rPr>
              <a:t>based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buffer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overflow </a:t>
            </a:r>
            <a:r>
              <a:rPr sz="2000" spc="-10" dirty="0" smtClean="0">
                <a:latin typeface="Tahoma"/>
                <a:cs typeface="Tahoma"/>
              </a:rPr>
              <a:t>attacks</a:t>
            </a:r>
            <a:r>
              <a:rPr sz="2000" spc="-10" dirty="0">
                <a:latin typeface="Tahoma"/>
                <a:cs typeface="Tahoma"/>
              </a:rPr>
              <a:t>.</a:t>
            </a:r>
            <a:endParaRPr sz="2000" dirty="0">
              <a:latin typeface="Tahoma"/>
              <a:cs typeface="Tahoma"/>
            </a:endParaRPr>
          </a:p>
          <a:p>
            <a:pPr marL="201295" marR="508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Commonly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used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techniques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include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placing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canary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values </a:t>
            </a:r>
            <a:r>
              <a:rPr sz="2000" spc="-60" dirty="0" smtClean="0">
                <a:latin typeface="Tahoma"/>
                <a:cs typeface="Tahoma"/>
              </a:rPr>
              <a:t>before</a:t>
            </a:r>
            <a:r>
              <a:rPr sz="2000" spc="-85" dirty="0" smtClean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return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addresses.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1186137" y="2688935"/>
            <a:ext cx="11852359" cy="516808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lang="en-US" dirty="0" smtClean="0"/>
              <a:t>TECHNIQUES</a:t>
            </a:r>
            <a:r>
              <a:rPr lang="en-US" spc="-20" dirty="0" smtClean="0"/>
              <a:t> </a:t>
            </a:r>
            <a:r>
              <a:rPr lang="en-US" spc="95" dirty="0" smtClean="0"/>
              <a:t>OF</a:t>
            </a:r>
            <a:r>
              <a:rPr lang="en-US" spc="-20" dirty="0" smtClean="0"/>
              <a:t> </a:t>
            </a:r>
            <a:r>
              <a:rPr lang="en-US" spc="75" dirty="0" smtClean="0"/>
              <a:t>STACK </a:t>
            </a:r>
            <a:r>
              <a:rPr lang="en-US" spc="60" dirty="0" smtClean="0"/>
              <a:t>PROTECTION</a:t>
            </a:r>
            <a:endParaRPr lang="en-US" spc="60" dirty="0"/>
          </a:p>
        </p:txBody>
      </p:sp>
      <p:sp>
        <p:nvSpPr>
          <p:cNvPr id="5" name="object 3"/>
          <p:cNvSpPr txBox="1"/>
          <p:nvPr/>
        </p:nvSpPr>
        <p:spPr>
          <a:xfrm>
            <a:off x="1574800" y="3352800"/>
            <a:ext cx="7974966" cy="2982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735965" indent="-189230">
              <a:lnSpc>
                <a:spcPct val="12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110" dirty="0">
                <a:latin typeface="Tahoma"/>
                <a:cs typeface="Tahoma"/>
              </a:rPr>
              <a:t>Stack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Canaries: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Random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values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placed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between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local </a:t>
            </a:r>
            <a:r>
              <a:rPr sz="2000" spc="-100" dirty="0" smtClean="0">
                <a:latin typeface="Tahoma"/>
                <a:cs typeface="Tahoma"/>
              </a:rPr>
              <a:t>variables</a:t>
            </a:r>
            <a:r>
              <a:rPr sz="2000" spc="-75" dirty="0" smtClean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and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return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addresses.</a:t>
            </a:r>
            <a:endParaRPr sz="2000" dirty="0">
              <a:latin typeface="Tahoma"/>
              <a:cs typeface="Tahoma"/>
            </a:endParaRPr>
          </a:p>
          <a:p>
            <a:pPr marL="201295" marR="34417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70" dirty="0">
                <a:latin typeface="Tahoma"/>
                <a:cs typeface="Tahoma"/>
              </a:rPr>
              <a:t>Non-</a:t>
            </a:r>
            <a:r>
              <a:rPr sz="2000" spc="-55" dirty="0">
                <a:latin typeface="Tahoma"/>
                <a:cs typeface="Tahoma"/>
              </a:rPr>
              <a:t>Executable </a:t>
            </a:r>
            <a:r>
              <a:rPr sz="2000" spc="-110" dirty="0">
                <a:latin typeface="Tahoma"/>
                <a:cs typeface="Tahoma"/>
              </a:rPr>
              <a:t>Stack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114" dirty="0">
                <a:latin typeface="Tahoma"/>
                <a:cs typeface="Tahoma"/>
              </a:rPr>
              <a:t>(NX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Bit):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Marks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stack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memory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as </a:t>
            </a:r>
            <a:r>
              <a:rPr sz="2000" spc="-90" dirty="0" smtClean="0">
                <a:latin typeface="Tahoma"/>
                <a:cs typeface="Tahoma"/>
              </a:rPr>
              <a:t>non-</a:t>
            </a:r>
            <a:r>
              <a:rPr sz="2000" spc="-85" dirty="0" smtClean="0">
                <a:latin typeface="Tahoma"/>
                <a:cs typeface="Tahoma"/>
              </a:rPr>
              <a:t>executable</a:t>
            </a:r>
            <a:r>
              <a:rPr sz="2000" spc="-50" dirty="0" smtClean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prevent</a:t>
            </a:r>
            <a:r>
              <a:rPr sz="2000" spc="-50" dirty="0">
                <a:latin typeface="Tahoma"/>
                <a:cs typeface="Tahoma"/>
              </a:rPr>
              <a:t> code </a:t>
            </a:r>
            <a:r>
              <a:rPr sz="2000" spc="-10" dirty="0">
                <a:latin typeface="Tahoma"/>
                <a:cs typeface="Tahoma"/>
              </a:rPr>
              <a:t>execution.</a:t>
            </a:r>
            <a:endParaRPr sz="2000" dirty="0">
              <a:latin typeface="Tahoma"/>
              <a:cs typeface="Tahoma"/>
            </a:endParaRPr>
          </a:p>
          <a:p>
            <a:pPr marL="201295" marR="84836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170" dirty="0">
                <a:latin typeface="Tahoma"/>
                <a:cs typeface="Tahoma"/>
              </a:rPr>
              <a:t>Safe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SEH: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Ensures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only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valid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exception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handlers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are </a:t>
            </a:r>
            <a:r>
              <a:rPr sz="2000" spc="-10" dirty="0" smtClean="0">
                <a:latin typeface="Tahoma"/>
                <a:cs typeface="Tahoma"/>
              </a:rPr>
              <a:t>executed</a:t>
            </a:r>
            <a:r>
              <a:rPr sz="2000" spc="-10" dirty="0">
                <a:latin typeface="Tahoma"/>
                <a:cs typeface="Tahoma"/>
              </a:rPr>
              <a:t>.</a:t>
            </a:r>
            <a:endParaRPr sz="2000" dirty="0">
              <a:latin typeface="Tahoma"/>
              <a:cs typeface="Tahoma"/>
            </a:endParaRPr>
          </a:p>
          <a:p>
            <a:pPr marL="201295" marR="508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-110" dirty="0">
                <a:latin typeface="Tahoma"/>
                <a:cs typeface="Tahoma"/>
              </a:rPr>
              <a:t>Stack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60" dirty="0">
                <a:latin typeface="Tahoma"/>
                <a:cs typeface="Tahoma"/>
              </a:rPr>
              <a:t>Smashing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Protector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80" dirty="0">
                <a:latin typeface="Tahoma"/>
                <a:cs typeface="Tahoma"/>
              </a:rPr>
              <a:t>(SSP):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Compiler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feature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that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adds 	</a:t>
            </a:r>
            <a:r>
              <a:rPr sz="2000" spc="-70" dirty="0">
                <a:latin typeface="Tahoma"/>
                <a:cs typeface="Tahoma"/>
              </a:rPr>
              <a:t>security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checks.</a:t>
            </a:r>
            <a:endParaRPr sz="20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30009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041" y="1219200"/>
            <a:ext cx="11852359" cy="516808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pc="50" dirty="0"/>
              <a:t>COMPARISON</a:t>
            </a:r>
            <a:r>
              <a:rPr spc="-45" dirty="0"/>
              <a:t> </a:t>
            </a:r>
            <a:r>
              <a:rPr dirty="0"/>
              <a:t>BETWEEN</a:t>
            </a:r>
            <a:r>
              <a:rPr spc="-40" dirty="0"/>
              <a:t> </a:t>
            </a:r>
            <a:r>
              <a:rPr spc="-20" dirty="0"/>
              <a:t>ASLR </a:t>
            </a:r>
            <a:r>
              <a:rPr spc="245" dirty="0"/>
              <a:t>AND</a:t>
            </a:r>
            <a:r>
              <a:rPr spc="-110" dirty="0"/>
              <a:t> </a:t>
            </a:r>
            <a:r>
              <a:rPr spc="90" dirty="0"/>
              <a:t>STACK</a:t>
            </a:r>
            <a:r>
              <a:rPr spc="-114" dirty="0"/>
              <a:t> </a:t>
            </a:r>
            <a:r>
              <a:rPr spc="60" dirty="0"/>
              <a:t>PROTECTION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78050" y="2113394"/>
          <a:ext cx="8229600" cy="3780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07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71E42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ASLR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71E42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spc="-175" dirty="0">
                          <a:latin typeface="Arial Black"/>
                          <a:cs typeface="Arial Black"/>
                        </a:rPr>
                        <a:t>Stack</a:t>
                      </a:r>
                      <a:r>
                        <a:rPr sz="1350" spc="-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10" dirty="0">
                          <a:latin typeface="Arial Black"/>
                          <a:cs typeface="Arial Black"/>
                        </a:rPr>
                        <a:t>Protection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71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9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spc="-10" dirty="0">
                          <a:latin typeface="Times New Roman"/>
                          <a:cs typeface="Times New Roman"/>
                        </a:rPr>
                        <a:t>Focus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3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13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-10" dirty="0">
                          <a:latin typeface="Times New Roman"/>
                          <a:cs typeface="Times New Roman"/>
                        </a:rPr>
                        <a:t>Randomization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spc="-80" dirty="0">
                          <a:latin typeface="Tahoma"/>
                          <a:cs typeface="Tahoma"/>
                        </a:rPr>
                        <a:t>Stack</a:t>
                      </a:r>
                      <a:r>
                        <a:rPr sz="1350" spc="-20" dirty="0">
                          <a:latin typeface="Tahoma"/>
                          <a:cs typeface="Tahoma"/>
                        </a:rPr>
                        <a:t> Overflow</a:t>
                      </a:r>
                      <a:r>
                        <a:rPr sz="13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latin typeface="Tahoma"/>
                          <a:cs typeface="Tahoma"/>
                        </a:rPr>
                        <a:t>Prevention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9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spc="-20" dirty="0">
                          <a:latin typeface="Tahoma"/>
                          <a:cs typeface="Tahoma"/>
                        </a:rPr>
                        <a:t>Type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7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spc="-90" dirty="0">
                          <a:latin typeface="Tahoma"/>
                          <a:cs typeface="Tahoma"/>
                        </a:rPr>
                        <a:t>System-</a:t>
                      </a:r>
                      <a:r>
                        <a:rPr sz="1350" spc="-70" dirty="0">
                          <a:latin typeface="Tahoma"/>
                          <a:cs typeface="Tahoma"/>
                        </a:rPr>
                        <a:t>level</a:t>
                      </a:r>
                      <a:r>
                        <a:rPr sz="135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latin typeface="Tahoma"/>
                          <a:cs typeface="Tahoma"/>
                        </a:rPr>
                        <a:t>protection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7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spc="-55" dirty="0">
                          <a:latin typeface="Tahoma"/>
                          <a:cs typeface="Tahoma"/>
                        </a:rPr>
                        <a:t>Application-</a:t>
                      </a:r>
                      <a:r>
                        <a:rPr sz="1350" spc="-40" dirty="0">
                          <a:latin typeface="Tahoma"/>
                          <a:cs typeface="Tahoma"/>
                        </a:rPr>
                        <a:t>level</a:t>
                      </a:r>
                      <a:r>
                        <a:rPr sz="135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latin typeface="Tahoma"/>
                          <a:cs typeface="Tahoma"/>
                        </a:rPr>
                        <a:t>protection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9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spc="-10" dirty="0">
                          <a:latin typeface="Tahoma"/>
                          <a:cs typeface="Tahoma"/>
                        </a:rPr>
                        <a:t>Effectiveness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spc="-70" dirty="0">
                          <a:latin typeface="Tahoma"/>
                          <a:cs typeface="Tahoma"/>
                        </a:rPr>
                        <a:t>Reduces</a:t>
                      </a:r>
                      <a:r>
                        <a:rPr sz="135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latin typeface="Tahoma"/>
                          <a:cs typeface="Tahoma"/>
                        </a:rPr>
                        <a:t>predictability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50" dirty="0">
                          <a:latin typeface="Times New Roman"/>
                          <a:cs typeface="Times New Roman"/>
                        </a:rPr>
                        <a:t>Stops</a:t>
                      </a:r>
                      <a:r>
                        <a:rPr sz="13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dirty="0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sz="13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-10" dirty="0">
                          <a:latin typeface="Times New Roman"/>
                          <a:cs typeface="Times New Roman"/>
                        </a:rPr>
                        <a:t>overflow</a:t>
                      </a:r>
                      <a:r>
                        <a:rPr sz="13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-10" dirty="0">
                          <a:latin typeface="Times New Roman"/>
                          <a:cs typeface="Times New Roman"/>
                        </a:rPr>
                        <a:t>attacks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36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85800"/>
            <a:ext cx="11852359" cy="461665"/>
          </a:xfrm>
        </p:spPr>
        <p:txBody>
          <a:bodyPr/>
          <a:lstStyle/>
          <a:p>
            <a:r>
              <a:rPr lang="en-US" dirty="0"/>
              <a:t>Isolation in Operating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920" y="1577340"/>
            <a:ext cx="11338560" cy="5170646"/>
          </a:xfrm>
        </p:spPr>
        <p:txBody>
          <a:bodyPr/>
          <a:lstStyle/>
          <a:p>
            <a:r>
              <a:rPr lang="en-US" sz="2400" b="1" dirty="0"/>
              <a:t>Isolation</a:t>
            </a:r>
            <a:r>
              <a:rPr lang="en-US" sz="2400" dirty="0"/>
              <a:t> is a security mechanism that separates processes and resources so that one process cannot interfere with another.</a:t>
            </a:r>
          </a:p>
          <a:p>
            <a:r>
              <a:rPr lang="en-US" sz="2400" dirty="0"/>
              <a:t>Purpose of isolation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	Improve </a:t>
            </a:r>
            <a:r>
              <a:rPr lang="en-US" sz="2400" b="1" dirty="0"/>
              <a:t>system security</a:t>
            </a:r>
            <a:endParaRPr lang="en-US" sz="2400" dirty="0"/>
          </a:p>
          <a:p>
            <a:r>
              <a:rPr lang="en-US" sz="2400" dirty="0" smtClean="0"/>
              <a:t>	Prevent </a:t>
            </a:r>
            <a:r>
              <a:rPr lang="en-US" sz="2400" b="1" dirty="0"/>
              <a:t>unauthorized access</a:t>
            </a:r>
            <a:endParaRPr lang="en-US" sz="2400" dirty="0"/>
          </a:p>
          <a:p>
            <a:r>
              <a:rPr lang="en-US" sz="2400" dirty="0" smtClean="0"/>
              <a:t>	Protect </a:t>
            </a:r>
            <a:r>
              <a:rPr lang="en-US" sz="2400" b="1" dirty="0"/>
              <a:t>system resources</a:t>
            </a:r>
            <a:endParaRPr lang="en-US" sz="2400" dirty="0"/>
          </a:p>
          <a:p>
            <a:r>
              <a:rPr lang="en-US" sz="2400" dirty="0" smtClean="0"/>
              <a:t>	Enable </a:t>
            </a:r>
            <a:r>
              <a:rPr lang="en-US" sz="2400" b="1" dirty="0"/>
              <a:t>safe multi-user environments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Isolation </a:t>
            </a:r>
            <a:r>
              <a:rPr lang="en-US" sz="2400" dirty="0"/>
              <a:t>is widely used in:</a:t>
            </a:r>
          </a:p>
          <a:p>
            <a:r>
              <a:rPr lang="en-US" sz="2400" dirty="0" smtClean="0"/>
              <a:t>	Cloud </a:t>
            </a:r>
            <a:r>
              <a:rPr lang="en-US" sz="2400" dirty="0"/>
              <a:t>computing</a:t>
            </a:r>
          </a:p>
          <a:p>
            <a:r>
              <a:rPr lang="en-US" sz="2400" dirty="0" smtClean="0"/>
              <a:t>	Containers</a:t>
            </a:r>
            <a:endParaRPr lang="en-US" sz="2400" dirty="0"/>
          </a:p>
          <a:p>
            <a:r>
              <a:rPr lang="en-US" sz="2400" dirty="0" smtClean="0"/>
              <a:t>	Virtual </a:t>
            </a:r>
            <a:r>
              <a:rPr lang="en-US" sz="2400" dirty="0"/>
              <a:t>machines</a:t>
            </a:r>
          </a:p>
          <a:p>
            <a:r>
              <a:rPr lang="en-US" sz="2400" dirty="0" smtClean="0"/>
              <a:t>	Mobile </a:t>
            </a:r>
            <a:r>
              <a:rPr lang="en-US" sz="2400" dirty="0"/>
              <a:t>operating systems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7659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20" y="685800"/>
            <a:ext cx="11852359" cy="461665"/>
          </a:xfrm>
        </p:spPr>
        <p:txBody>
          <a:bodyPr/>
          <a:lstStyle/>
          <a:p>
            <a:r>
              <a:rPr lang="en-US" dirty="0"/>
              <a:t>Importance of Isolation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920" y="1577340"/>
            <a:ext cx="11338560" cy="4739759"/>
          </a:xfrm>
        </p:spPr>
        <p:txBody>
          <a:bodyPr/>
          <a:lstStyle/>
          <a:p>
            <a:r>
              <a:rPr lang="en-US" sz="2800" dirty="0"/>
              <a:t>Isolation ensures:</a:t>
            </a:r>
          </a:p>
          <a:p>
            <a:r>
              <a:rPr lang="en-US" sz="2800" dirty="0" smtClean="0"/>
              <a:t>	Applications </a:t>
            </a:r>
            <a:r>
              <a:rPr lang="en-US" sz="2800" dirty="0"/>
              <a:t>cannot access </a:t>
            </a:r>
            <a:r>
              <a:rPr lang="en-US" sz="2800" b="1" dirty="0"/>
              <a:t>other applications' data</a:t>
            </a:r>
            <a:endParaRPr lang="en-US" sz="2800" dirty="0"/>
          </a:p>
          <a:p>
            <a:r>
              <a:rPr lang="en-US" sz="2800" dirty="0" smtClean="0"/>
              <a:t>	Malicious </a:t>
            </a:r>
            <a:r>
              <a:rPr lang="en-US" sz="2800" dirty="0"/>
              <a:t>programs cannot damage the </a:t>
            </a:r>
            <a:r>
              <a:rPr lang="en-US" sz="2800" b="1" dirty="0"/>
              <a:t>entire system</a:t>
            </a:r>
            <a:endParaRPr lang="en-US" sz="2800" dirty="0"/>
          </a:p>
          <a:p>
            <a:r>
              <a:rPr lang="en-US" sz="2800" dirty="0" smtClean="0"/>
              <a:t>	System </a:t>
            </a:r>
            <a:r>
              <a:rPr lang="en-US" sz="2800" dirty="0"/>
              <a:t>resources are </a:t>
            </a:r>
            <a:r>
              <a:rPr lang="en-US" sz="2800" b="1" dirty="0"/>
              <a:t>controlled and monitored</a:t>
            </a:r>
            <a:endParaRPr lang="en-US" sz="2800" dirty="0"/>
          </a:p>
          <a:p>
            <a:r>
              <a:rPr lang="en-US" sz="2800" dirty="0"/>
              <a:t>Example</a:t>
            </a:r>
            <a:r>
              <a:rPr lang="en-US" sz="2800" dirty="0" smtClean="0"/>
              <a:t>:	Running </a:t>
            </a:r>
            <a:r>
              <a:rPr lang="en-US" sz="2800" dirty="0"/>
              <a:t>multiple containers on a single Linux system without interference.</a:t>
            </a:r>
          </a:p>
          <a:p>
            <a:r>
              <a:rPr lang="en-US" sz="2800" dirty="0" smtClean="0"/>
              <a:t>Isolation </a:t>
            </a:r>
            <a:r>
              <a:rPr lang="en-US" sz="2800" dirty="0"/>
              <a:t>techniques include:</a:t>
            </a:r>
          </a:p>
          <a:p>
            <a:r>
              <a:rPr lang="en-US" sz="2800" dirty="0" smtClean="0"/>
              <a:t>	Namespaces</a:t>
            </a:r>
            <a:endParaRPr lang="en-US" sz="2800" dirty="0"/>
          </a:p>
          <a:p>
            <a:r>
              <a:rPr lang="en-US" sz="2800" dirty="0" smtClean="0"/>
              <a:t>	Control </a:t>
            </a:r>
            <a:r>
              <a:rPr lang="en-US" sz="2800" dirty="0"/>
              <a:t>Groups (</a:t>
            </a:r>
            <a:r>
              <a:rPr lang="en-US" sz="2800" dirty="0" err="1"/>
              <a:t>Cgroups</a:t>
            </a:r>
            <a:r>
              <a:rPr lang="en-US" sz="2800" dirty="0"/>
              <a:t>)</a:t>
            </a:r>
          </a:p>
          <a:p>
            <a:r>
              <a:rPr lang="en-US" sz="2800" dirty="0" smtClean="0"/>
              <a:t>	Sandboxing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0323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85800"/>
            <a:ext cx="11852359" cy="461665"/>
          </a:xfrm>
        </p:spPr>
        <p:txBody>
          <a:bodyPr/>
          <a:lstStyle/>
          <a:p>
            <a:r>
              <a:rPr lang="en-US" dirty="0"/>
              <a:t>Namespaces in Linux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920" y="1577340"/>
            <a:ext cx="1133856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Namespaces</a:t>
            </a:r>
            <a:r>
              <a:rPr lang="en-US" sz="2800" dirty="0"/>
              <a:t> provide isolation of system resources between processes.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They allow processes to have </a:t>
            </a:r>
            <a:r>
              <a:rPr lang="en-US" sz="2800" b="1" dirty="0"/>
              <a:t>their own view of system resources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means each process can appear to have:</a:t>
            </a:r>
          </a:p>
          <a:p>
            <a:r>
              <a:rPr lang="en-US" sz="2800" dirty="0" smtClean="0"/>
              <a:t>	Its </a:t>
            </a:r>
            <a:r>
              <a:rPr lang="en-US" sz="2800" dirty="0"/>
              <a:t>own process IDs</a:t>
            </a:r>
          </a:p>
          <a:p>
            <a:r>
              <a:rPr lang="en-US" sz="2800" dirty="0" smtClean="0"/>
              <a:t>	Its </a:t>
            </a:r>
            <a:r>
              <a:rPr lang="en-US" sz="2800" dirty="0"/>
              <a:t>own network interfaces</a:t>
            </a:r>
          </a:p>
          <a:p>
            <a:r>
              <a:rPr lang="en-US" sz="2800" dirty="0" smtClean="0"/>
              <a:t>	Its </a:t>
            </a:r>
            <a:r>
              <a:rPr lang="en-US" sz="2800" dirty="0"/>
              <a:t>own file system 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Namespaces are a key feature used in </a:t>
            </a:r>
            <a:r>
              <a:rPr lang="en-US" sz="2800" b="1" dirty="0"/>
              <a:t>Linux containers such as Docker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4645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20" y="609600"/>
            <a:ext cx="11852359" cy="461665"/>
          </a:xfrm>
        </p:spPr>
        <p:txBody>
          <a:bodyPr/>
          <a:lstStyle/>
          <a:p>
            <a:r>
              <a:rPr lang="en-US" dirty="0"/>
              <a:t>Types of Namespaces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920" y="1577340"/>
            <a:ext cx="11338560" cy="3877985"/>
          </a:xfrm>
        </p:spPr>
        <p:txBody>
          <a:bodyPr/>
          <a:lstStyle/>
          <a:p>
            <a:r>
              <a:rPr lang="en-US" sz="2800" dirty="0"/>
              <a:t>Common Linux namespaces include: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PID </a:t>
            </a:r>
            <a:r>
              <a:rPr lang="en-US" sz="2800" b="1" dirty="0" smtClean="0"/>
              <a:t>Namespace </a:t>
            </a:r>
            <a:r>
              <a:rPr lang="en-US" sz="2800" dirty="0" smtClean="0"/>
              <a:t>Isolates </a:t>
            </a:r>
            <a:r>
              <a:rPr lang="en-US" sz="2800" dirty="0"/>
              <a:t>process IDs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Network </a:t>
            </a:r>
            <a:r>
              <a:rPr lang="en-US" sz="2800" b="1" dirty="0" smtClean="0"/>
              <a:t>Namespace </a:t>
            </a:r>
            <a:r>
              <a:rPr lang="en-US" sz="2800" dirty="0" smtClean="0"/>
              <a:t>Provides </a:t>
            </a:r>
            <a:r>
              <a:rPr lang="en-US" sz="2800" dirty="0"/>
              <a:t>separate network interfaces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Mount </a:t>
            </a:r>
            <a:r>
              <a:rPr lang="en-US" sz="2800" b="1" dirty="0" smtClean="0"/>
              <a:t>Namespace </a:t>
            </a:r>
            <a:r>
              <a:rPr lang="en-US" sz="2800" dirty="0" smtClean="0"/>
              <a:t>Isolates </a:t>
            </a:r>
            <a:r>
              <a:rPr lang="en-US" sz="2800" dirty="0" err="1"/>
              <a:t>filesystem</a:t>
            </a:r>
            <a:r>
              <a:rPr lang="en-US" sz="2800" dirty="0"/>
              <a:t> mount 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User </a:t>
            </a:r>
            <a:r>
              <a:rPr lang="en-US" sz="2800" b="1" dirty="0" smtClean="0"/>
              <a:t>Namespace </a:t>
            </a:r>
            <a:r>
              <a:rPr lang="en-US" sz="2800" dirty="0" smtClean="0"/>
              <a:t>Provides </a:t>
            </a:r>
            <a:r>
              <a:rPr lang="en-US" sz="2800" dirty="0"/>
              <a:t>separate user and group IDs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UTS </a:t>
            </a:r>
            <a:r>
              <a:rPr lang="en-US" sz="2800" b="1" dirty="0" smtClean="0"/>
              <a:t>Namespace </a:t>
            </a:r>
            <a:r>
              <a:rPr lang="en-US" sz="2800" dirty="0" smtClean="0"/>
              <a:t>Isolates </a:t>
            </a:r>
            <a:r>
              <a:rPr lang="en-US" sz="2800" dirty="0"/>
              <a:t>hostname and domain 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These namespaces help create </a:t>
            </a:r>
            <a:r>
              <a:rPr lang="en-US" sz="2800" b="1" dirty="0"/>
              <a:t>independent environments within the same OS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57851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685800"/>
            <a:ext cx="11852359" cy="461665"/>
          </a:xfrm>
        </p:spPr>
        <p:txBody>
          <a:bodyPr/>
          <a:lstStyle/>
          <a:p>
            <a:r>
              <a:rPr lang="en-US" dirty="0"/>
              <a:t>Control Groups (</a:t>
            </a:r>
            <a:r>
              <a:rPr lang="en-US" dirty="0" err="1"/>
              <a:t>Cgroups</a:t>
            </a:r>
            <a:r>
              <a:rPr lang="en-US"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920" y="1577340"/>
            <a:ext cx="10469880" cy="2585323"/>
          </a:xfrm>
        </p:spPr>
        <p:txBody>
          <a:bodyPr/>
          <a:lstStyle/>
          <a:p>
            <a:r>
              <a:rPr lang="en-US" sz="2400" b="1" dirty="0"/>
              <a:t>Control Groups (</a:t>
            </a:r>
            <a:r>
              <a:rPr lang="en-US" sz="2400" b="1" dirty="0" err="1"/>
              <a:t>Cgroups</a:t>
            </a:r>
            <a:r>
              <a:rPr lang="en-US" sz="2400" b="1" dirty="0"/>
              <a:t>)</a:t>
            </a:r>
            <a:r>
              <a:rPr lang="en-US" sz="2400" dirty="0"/>
              <a:t> manage and limit system resource usage of processes.</a:t>
            </a:r>
          </a:p>
          <a:p>
            <a:r>
              <a:rPr lang="en-US" sz="2400" dirty="0"/>
              <a:t>They allow administrators to control</a:t>
            </a:r>
            <a:r>
              <a:rPr lang="en-US" sz="2400" dirty="0" smtClean="0"/>
              <a:t>: CPU usage, Memory usage, , Disk I/O, Network </a:t>
            </a:r>
            <a:r>
              <a:rPr lang="en-US" sz="2400" dirty="0"/>
              <a:t>bandwidth</a:t>
            </a:r>
          </a:p>
          <a:p>
            <a:r>
              <a:rPr lang="en-US" sz="2400" dirty="0" err="1"/>
              <a:t>Cgroups</a:t>
            </a:r>
            <a:r>
              <a:rPr lang="en-US" sz="2400" dirty="0"/>
              <a:t> ensure that one application </a:t>
            </a:r>
            <a:r>
              <a:rPr lang="en-US" sz="2400" b="1" dirty="0"/>
              <a:t>cannot consume all system resources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74040" y="3200400"/>
            <a:ext cx="85445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Features of </a:t>
            </a:r>
            <a:r>
              <a:rPr lang="en-US" sz="2400" b="1" dirty="0" err="1" smtClean="0"/>
              <a:t>Cgroups</a:t>
            </a:r>
            <a:endParaRPr lang="en-US" sz="2400" b="1" dirty="0" smtClean="0"/>
          </a:p>
          <a:p>
            <a:r>
              <a:rPr lang="en-US" dirty="0" smtClean="0"/>
              <a:t>Main functions of </a:t>
            </a:r>
            <a:r>
              <a:rPr lang="en-US" dirty="0" err="1" smtClean="0"/>
              <a:t>Cgroups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Resource Limiting : </a:t>
            </a:r>
            <a:r>
              <a:rPr lang="en-US" dirty="0" smtClean="0"/>
              <a:t>Restricts CPU or memory usage</a:t>
            </a:r>
          </a:p>
          <a:p>
            <a:r>
              <a:rPr lang="en-US" b="1" dirty="0" smtClean="0"/>
              <a:t>Resource Monitoring: </a:t>
            </a:r>
            <a:r>
              <a:rPr lang="en-US" dirty="0" smtClean="0"/>
              <a:t>Tracks resource consumption</a:t>
            </a:r>
          </a:p>
          <a:p>
            <a:r>
              <a:rPr lang="en-US" b="1" dirty="0" smtClean="0"/>
              <a:t>Resource Prioritization: </a:t>
            </a:r>
            <a:r>
              <a:rPr lang="en-US" dirty="0" smtClean="0"/>
              <a:t>Allocates resources based on priority</a:t>
            </a:r>
          </a:p>
          <a:p>
            <a:r>
              <a:rPr lang="en-US" b="1" dirty="0" smtClean="0"/>
              <a:t>Resource Isolation: </a:t>
            </a:r>
            <a:r>
              <a:rPr lang="en-US" dirty="0" smtClean="0"/>
              <a:t>Prevents resource interference between applications</a:t>
            </a:r>
          </a:p>
          <a:p>
            <a:endParaRPr lang="en-US" dirty="0" smtClean="0"/>
          </a:p>
          <a:p>
            <a:r>
              <a:rPr lang="en-US" dirty="0" err="1" smtClean="0"/>
              <a:t>Cgroups</a:t>
            </a:r>
            <a:r>
              <a:rPr lang="en-US" dirty="0" smtClean="0"/>
              <a:t> are widely used in </a:t>
            </a:r>
            <a:r>
              <a:rPr lang="en-US" b="1" dirty="0" smtClean="0"/>
              <a:t>container technologies like Docker and Kubernetes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86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20" y="990600"/>
            <a:ext cx="11852359" cy="461665"/>
          </a:xfrm>
        </p:spPr>
        <p:txBody>
          <a:bodyPr/>
          <a:lstStyle/>
          <a:p>
            <a:r>
              <a:rPr lang="en-US" dirty="0"/>
              <a:t>Sandboxing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920" y="1577340"/>
            <a:ext cx="9326880" cy="2462213"/>
          </a:xfrm>
        </p:spPr>
        <p:txBody>
          <a:bodyPr/>
          <a:lstStyle/>
          <a:p>
            <a:endParaRPr lang="en-US" sz="2000" b="1" dirty="0"/>
          </a:p>
          <a:p>
            <a:r>
              <a:rPr lang="en-US" sz="2000" b="1" dirty="0"/>
              <a:t>Sandboxing</a:t>
            </a:r>
            <a:r>
              <a:rPr lang="en-US" sz="2000" dirty="0"/>
              <a:t> is a security mechanism that runs applications in a </a:t>
            </a:r>
            <a:r>
              <a:rPr lang="en-US" sz="2000" b="1" dirty="0"/>
              <a:t>restricted environment</a:t>
            </a:r>
            <a:r>
              <a:rPr lang="en-US" sz="2000" dirty="0"/>
              <a:t>.</a:t>
            </a:r>
          </a:p>
          <a:p>
            <a:r>
              <a:rPr lang="en-US" sz="2000" dirty="0"/>
              <a:t>In a sandbox:</a:t>
            </a:r>
          </a:p>
          <a:p>
            <a:r>
              <a:rPr lang="en-US" sz="2000" dirty="0" smtClean="0"/>
              <a:t>	Access </a:t>
            </a:r>
            <a:r>
              <a:rPr lang="en-US" sz="2000" dirty="0"/>
              <a:t>to files is limited</a:t>
            </a:r>
          </a:p>
          <a:p>
            <a:r>
              <a:rPr lang="en-US" sz="2000" dirty="0" smtClean="0"/>
              <a:t>	Network </a:t>
            </a:r>
            <a:r>
              <a:rPr lang="en-US" sz="2000" dirty="0"/>
              <a:t>access may be restricted</a:t>
            </a:r>
          </a:p>
          <a:p>
            <a:r>
              <a:rPr lang="en-US" sz="2000" dirty="0" smtClean="0"/>
              <a:t>	System </a:t>
            </a:r>
            <a:r>
              <a:rPr lang="en-US" sz="2000" dirty="0"/>
              <a:t>resources are controlled</a:t>
            </a:r>
          </a:p>
          <a:p>
            <a:r>
              <a:rPr lang="en-US" sz="2000" b="1" dirty="0" smtClean="0"/>
              <a:t>Purpose: P</a:t>
            </a:r>
            <a:r>
              <a:rPr lang="en-US" sz="2000" dirty="0" smtClean="0"/>
              <a:t>revent </a:t>
            </a:r>
            <a:r>
              <a:rPr lang="en-US" sz="2000" dirty="0"/>
              <a:t>malicious code from affecting the system.</a:t>
            </a:r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117600" y="4039553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Examples of Sandboxing</a:t>
            </a:r>
          </a:p>
          <a:p>
            <a:r>
              <a:rPr lang="en-US" dirty="0" smtClean="0"/>
              <a:t>Common sandbox implementations include:</a:t>
            </a:r>
          </a:p>
          <a:p>
            <a:r>
              <a:rPr lang="en-US" b="1" dirty="0" smtClean="0"/>
              <a:t>Web Browser Sandboxing: </a:t>
            </a:r>
            <a:r>
              <a:rPr lang="en-US" dirty="0" smtClean="0"/>
              <a:t>Chrome isolates each tab</a:t>
            </a:r>
          </a:p>
          <a:p>
            <a:r>
              <a:rPr lang="en-US" b="1" dirty="0" smtClean="0"/>
              <a:t>Application Sandboxing: </a:t>
            </a:r>
            <a:r>
              <a:rPr lang="en-US" dirty="0" smtClean="0"/>
              <a:t>Mobile apps run in isolated environments</a:t>
            </a:r>
          </a:p>
          <a:p>
            <a:r>
              <a:rPr lang="en-US" b="1" dirty="0" smtClean="0"/>
              <a:t>Operating System Sandboxing: </a:t>
            </a:r>
            <a:r>
              <a:rPr lang="en-US" dirty="0" err="1" smtClean="0"/>
              <a:t>macOS</a:t>
            </a:r>
            <a:r>
              <a:rPr lang="en-US" dirty="0" smtClean="0"/>
              <a:t> application sandbox, Android application sandbox</a:t>
            </a:r>
          </a:p>
          <a:p>
            <a:r>
              <a:rPr lang="en-US" b="1" dirty="0" smtClean="0"/>
              <a:t>Benefits: </a:t>
            </a:r>
            <a:r>
              <a:rPr lang="en-US" dirty="0" smtClean="0"/>
              <a:t>Improved security, Reduced risk of malware attacks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63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0221" y="202205"/>
            <a:ext cx="11852359" cy="516808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pc="195" dirty="0"/>
              <a:t>WHAT</a:t>
            </a:r>
            <a:r>
              <a:rPr spc="-90" dirty="0"/>
              <a:t> </a:t>
            </a:r>
            <a:r>
              <a:rPr spc="-375" dirty="0"/>
              <a:t>IS</a:t>
            </a:r>
            <a:r>
              <a:rPr spc="-90" dirty="0"/>
              <a:t> </a:t>
            </a:r>
            <a:r>
              <a:rPr spc="190" dirty="0"/>
              <a:t>A</a:t>
            </a:r>
            <a:r>
              <a:rPr spc="-95" dirty="0"/>
              <a:t> </a:t>
            </a:r>
            <a:r>
              <a:rPr dirty="0"/>
              <a:t>SIDE-</a:t>
            </a:r>
            <a:r>
              <a:rPr spc="-10" dirty="0"/>
              <a:t>CHANNEL </a:t>
            </a:r>
            <a:r>
              <a:rPr spc="60" dirty="0"/>
              <a:t>ATTACK?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0000" y="1295400"/>
            <a:ext cx="6629400" cy="161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2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02565" algn="l"/>
              </a:tabLst>
            </a:pP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breach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gathered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000" spc="-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system’s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itself).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177165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02565" algn="l"/>
              </a:tabLst>
            </a:pPr>
            <a:r>
              <a:rPr sz="20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Observing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	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0" y="3048000"/>
            <a:ext cx="6572250" cy="336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68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0221" y="202205"/>
            <a:ext cx="11852359" cy="516808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dirty="0"/>
              <a:t>HARDWARE-LEVEL</a:t>
            </a:r>
            <a:r>
              <a:rPr spc="85" dirty="0"/>
              <a:t> </a:t>
            </a:r>
            <a:r>
              <a:rPr spc="-10" dirty="0"/>
              <a:t>MITIGATION 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4200" y="990600"/>
            <a:ext cx="632015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70" dirty="0">
                <a:latin typeface="Arial Black"/>
                <a:cs typeface="Arial Black"/>
              </a:rPr>
              <a:t>Implement</a:t>
            </a:r>
            <a:r>
              <a:rPr sz="2000" spc="-85" dirty="0">
                <a:latin typeface="Arial Black"/>
                <a:cs typeface="Arial Black"/>
              </a:rPr>
              <a:t> </a:t>
            </a:r>
            <a:r>
              <a:rPr sz="2000" spc="-210" dirty="0">
                <a:latin typeface="Arial Black"/>
                <a:cs typeface="Arial Black"/>
              </a:rPr>
              <a:t>Secure</a:t>
            </a:r>
            <a:r>
              <a:rPr sz="2000" spc="-80" dirty="0">
                <a:latin typeface="Arial Black"/>
                <a:cs typeface="Arial Black"/>
              </a:rPr>
              <a:t> </a:t>
            </a:r>
            <a:r>
              <a:rPr sz="2000" spc="-165" dirty="0">
                <a:latin typeface="Arial Black"/>
                <a:cs typeface="Arial Black"/>
              </a:rPr>
              <a:t>Hardware</a:t>
            </a:r>
            <a:r>
              <a:rPr sz="2000" spc="-85" dirty="0">
                <a:latin typeface="Arial Black"/>
                <a:cs typeface="Arial Black"/>
              </a:rPr>
              <a:t> </a:t>
            </a:r>
            <a:r>
              <a:rPr sz="2000" spc="-10" dirty="0">
                <a:latin typeface="Arial Black"/>
                <a:cs typeface="Arial Black"/>
              </a:rPr>
              <a:t>Design</a:t>
            </a:r>
            <a:endParaRPr sz="2000" dirty="0">
              <a:latin typeface="Arial Black"/>
              <a:cs typeface="Arial Black"/>
            </a:endParaRPr>
          </a:p>
          <a:p>
            <a:pPr marL="240029" indent="-189230">
              <a:spcBef>
                <a:spcPts val="1480"/>
              </a:spcBef>
              <a:buClr>
                <a:srgbClr val="B71E42"/>
              </a:buClr>
              <a:buFont typeface="Arial"/>
              <a:buChar char="•"/>
              <a:tabLst>
                <a:tab pos="240029" algn="l"/>
              </a:tabLst>
            </a:pPr>
            <a:r>
              <a:rPr sz="2000" spc="-185" dirty="0">
                <a:latin typeface="Arial Black"/>
                <a:cs typeface="Arial Black"/>
              </a:rPr>
              <a:t>Goal</a:t>
            </a:r>
            <a:r>
              <a:rPr sz="2000" spc="-185" dirty="0">
                <a:latin typeface="Tahoma"/>
                <a:cs typeface="Tahoma"/>
              </a:rPr>
              <a:t>: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Reduce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physical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leakage.</a:t>
            </a:r>
            <a:endParaRPr sz="2000" dirty="0">
              <a:latin typeface="Tahoma"/>
              <a:cs typeface="Tahoma"/>
            </a:endParaRPr>
          </a:p>
          <a:p>
            <a:pPr marL="240029" marR="13208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85" dirty="0">
                <a:latin typeface="Arial Black"/>
                <a:cs typeface="Arial Black"/>
              </a:rPr>
              <a:t>Method</a:t>
            </a:r>
            <a:r>
              <a:rPr sz="2000" spc="-185" dirty="0">
                <a:latin typeface="Tahoma"/>
                <a:cs typeface="Tahoma"/>
              </a:rPr>
              <a:t>: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Design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logic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55" dirty="0">
                <a:latin typeface="Tahoma"/>
                <a:cs typeface="Tahoma"/>
              </a:rPr>
              <a:t>gates,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circuits,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and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layouts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make 	</a:t>
            </a:r>
            <a:r>
              <a:rPr sz="2000" spc="-100" dirty="0">
                <a:latin typeface="Tahoma"/>
                <a:cs typeface="Tahoma"/>
              </a:rPr>
              <a:t>them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tamper-</a:t>
            </a:r>
            <a:r>
              <a:rPr sz="2000" spc="-10" dirty="0">
                <a:latin typeface="Tahoma"/>
                <a:cs typeface="Tahoma"/>
              </a:rPr>
              <a:t>resistant.</a:t>
            </a:r>
            <a:endParaRPr sz="2000" dirty="0">
              <a:latin typeface="Tahoma"/>
              <a:cs typeface="Tahoma"/>
            </a:endParaRPr>
          </a:p>
          <a:p>
            <a:pPr marL="240029" indent="-189230">
              <a:spcBef>
                <a:spcPts val="1480"/>
              </a:spcBef>
              <a:buClr>
                <a:srgbClr val="B71E42"/>
              </a:buClr>
              <a:buFont typeface="Arial"/>
              <a:buChar char="•"/>
              <a:tabLst>
                <a:tab pos="240029" algn="l"/>
              </a:tabLst>
            </a:pPr>
            <a:r>
              <a:rPr sz="2000" spc="-210" dirty="0">
                <a:latin typeface="Arial Black"/>
                <a:cs typeface="Arial Black"/>
              </a:rPr>
              <a:t>Example</a:t>
            </a:r>
            <a:r>
              <a:rPr sz="2000" spc="-210" dirty="0">
                <a:latin typeface="Tahoma"/>
                <a:cs typeface="Tahoma"/>
              </a:rPr>
              <a:t>: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Shielding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sensitive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signals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in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silicon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layouts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using</a:t>
            </a:r>
            <a:endParaRPr sz="2000" dirty="0">
              <a:latin typeface="Tahoma"/>
              <a:cs typeface="Tahoma"/>
            </a:endParaRPr>
          </a:p>
          <a:p>
            <a:pPr marL="241300">
              <a:spcBef>
                <a:spcPts val="480"/>
              </a:spcBef>
            </a:pPr>
            <a:r>
              <a:rPr sz="2000" spc="-250" dirty="0">
                <a:latin typeface="Arial Black"/>
                <a:cs typeface="Arial Black"/>
              </a:rPr>
              <a:t>special</a:t>
            </a:r>
            <a:r>
              <a:rPr sz="2000" spc="-65" dirty="0">
                <a:latin typeface="Arial Black"/>
                <a:cs typeface="Arial Black"/>
              </a:rPr>
              <a:t> </a:t>
            </a:r>
            <a:r>
              <a:rPr sz="2000" spc="-175" dirty="0">
                <a:latin typeface="Arial Black"/>
                <a:cs typeface="Arial Black"/>
              </a:rPr>
              <a:t>metal</a:t>
            </a:r>
            <a:r>
              <a:rPr sz="2000" spc="-60" dirty="0">
                <a:latin typeface="Arial Black"/>
                <a:cs typeface="Arial Black"/>
              </a:rPr>
              <a:t> </a:t>
            </a:r>
            <a:r>
              <a:rPr sz="2000" spc="-20" dirty="0">
                <a:latin typeface="Arial Black"/>
                <a:cs typeface="Arial Black"/>
              </a:rPr>
              <a:t>routing</a:t>
            </a:r>
            <a:r>
              <a:rPr sz="2000" spc="-20" dirty="0">
                <a:latin typeface="Tahoma"/>
                <a:cs typeface="Tahoma"/>
              </a:rPr>
              <a:t>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4838700" y="3352800"/>
            <a:ext cx="6375400" cy="319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93215">
              <a:lnSpc>
                <a:spcPct val="110000"/>
              </a:lnSpc>
              <a:spcBef>
                <a:spcPts val="100"/>
              </a:spcBef>
            </a:pPr>
            <a:r>
              <a:rPr sz="1850" spc="-180" dirty="0">
                <a:latin typeface="Arial Black"/>
                <a:cs typeface="Arial Black"/>
              </a:rPr>
              <a:t>Power</a:t>
            </a:r>
            <a:r>
              <a:rPr sz="1850" spc="-70" dirty="0">
                <a:latin typeface="Arial Black"/>
                <a:cs typeface="Arial Black"/>
              </a:rPr>
              <a:t> </a:t>
            </a:r>
            <a:r>
              <a:rPr sz="1850" spc="-204" dirty="0">
                <a:latin typeface="Arial Black"/>
                <a:cs typeface="Arial Black"/>
              </a:rPr>
              <a:t>and</a:t>
            </a:r>
            <a:r>
              <a:rPr sz="1850" spc="-70" dirty="0">
                <a:latin typeface="Arial Black"/>
                <a:cs typeface="Arial Black"/>
              </a:rPr>
              <a:t> </a:t>
            </a:r>
            <a:r>
              <a:rPr sz="1850" spc="-170" dirty="0">
                <a:latin typeface="Arial Black"/>
                <a:cs typeface="Arial Black"/>
              </a:rPr>
              <a:t>Electromagnetic</a:t>
            </a:r>
            <a:r>
              <a:rPr sz="1850" spc="-70" dirty="0">
                <a:latin typeface="Arial Black"/>
                <a:cs typeface="Arial Black"/>
              </a:rPr>
              <a:t> </a:t>
            </a:r>
            <a:r>
              <a:rPr sz="1850" spc="-105" dirty="0">
                <a:latin typeface="Arial Black"/>
                <a:cs typeface="Arial Black"/>
              </a:rPr>
              <a:t>(EMF)</a:t>
            </a:r>
            <a:r>
              <a:rPr sz="1850" spc="-70" dirty="0">
                <a:latin typeface="Arial Black"/>
                <a:cs typeface="Arial Black"/>
              </a:rPr>
              <a:t> </a:t>
            </a:r>
            <a:r>
              <a:rPr sz="1850" spc="-170" dirty="0">
                <a:latin typeface="Arial Black"/>
                <a:cs typeface="Arial Black"/>
              </a:rPr>
              <a:t>Analysis </a:t>
            </a:r>
            <a:r>
              <a:rPr sz="1850" spc="-105" dirty="0">
                <a:latin typeface="Arial Black"/>
                <a:cs typeface="Arial Black"/>
              </a:rPr>
              <a:t>Countermeasures</a:t>
            </a:r>
            <a:endParaRPr sz="1850" dirty="0">
              <a:latin typeface="Arial Black"/>
              <a:cs typeface="Arial Black"/>
            </a:endParaRPr>
          </a:p>
          <a:p>
            <a:pPr marL="240029" marR="360045" indent="-192405">
              <a:lnSpc>
                <a:spcPct val="11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1850" spc="-165" dirty="0">
                <a:latin typeface="Arial Black"/>
                <a:cs typeface="Arial Black"/>
              </a:rPr>
              <a:t>Dynamic</a:t>
            </a:r>
            <a:r>
              <a:rPr sz="1850" spc="-70" dirty="0">
                <a:latin typeface="Arial Black"/>
                <a:cs typeface="Arial Black"/>
              </a:rPr>
              <a:t> </a:t>
            </a:r>
            <a:r>
              <a:rPr sz="1850" spc="-175" dirty="0">
                <a:latin typeface="Arial Black"/>
                <a:cs typeface="Arial Black"/>
              </a:rPr>
              <a:t>Voltage</a:t>
            </a:r>
            <a:r>
              <a:rPr sz="1850" spc="-75" dirty="0">
                <a:latin typeface="Arial Black"/>
                <a:cs typeface="Arial Black"/>
              </a:rPr>
              <a:t> </a:t>
            </a:r>
            <a:r>
              <a:rPr sz="1850" spc="-155" dirty="0">
                <a:latin typeface="Arial Black"/>
                <a:cs typeface="Arial Black"/>
              </a:rPr>
              <a:t>Variation</a:t>
            </a:r>
            <a:r>
              <a:rPr sz="1850" spc="-155" dirty="0">
                <a:latin typeface="Tahoma"/>
                <a:cs typeface="Tahoma"/>
              </a:rPr>
              <a:t>: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105" dirty="0">
                <a:latin typeface="Tahoma"/>
                <a:cs typeface="Tahoma"/>
              </a:rPr>
              <a:t>Randomly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145" dirty="0">
                <a:latin typeface="Tahoma"/>
                <a:cs typeface="Tahoma"/>
              </a:rPr>
              <a:t>change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100" dirty="0">
                <a:latin typeface="Tahoma"/>
                <a:cs typeface="Tahoma"/>
              </a:rPr>
              <a:t>voltage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25" dirty="0">
                <a:latin typeface="Tahoma"/>
                <a:cs typeface="Tahoma"/>
              </a:rPr>
              <a:t>to 	</a:t>
            </a:r>
            <a:r>
              <a:rPr sz="1850" spc="-120" dirty="0">
                <a:latin typeface="Tahoma"/>
                <a:cs typeface="Tahoma"/>
              </a:rPr>
              <a:t>make</a:t>
            </a:r>
            <a:r>
              <a:rPr sz="1850" spc="-60" dirty="0">
                <a:latin typeface="Tahoma"/>
                <a:cs typeface="Tahoma"/>
              </a:rPr>
              <a:t> </a:t>
            </a:r>
            <a:r>
              <a:rPr sz="1850" dirty="0">
                <a:latin typeface="Tahoma"/>
                <a:cs typeface="Tahoma"/>
              </a:rPr>
              <a:t>it</a:t>
            </a:r>
            <a:r>
              <a:rPr sz="1850" spc="-60" dirty="0">
                <a:latin typeface="Tahoma"/>
                <a:cs typeface="Tahoma"/>
              </a:rPr>
              <a:t> </a:t>
            </a:r>
            <a:r>
              <a:rPr sz="1850" spc="-90" dirty="0">
                <a:latin typeface="Tahoma"/>
                <a:cs typeface="Tahoma"/>
              </a:rPr>
              <a:t>hard</a:t>
            </a:r>
            <a:r>
              <a:rPr sz="1850" spc="-60" dirty="0">
                <a:latin typeface="Tahoma"/>
                <a:cs typeface="Tahoma"/>
              </a:rPr>
              <a:t> </a:t>
            </a:r>
            <a:r>
              <a:rPr sz="1850" dirty="0">
                <a:latin typeface="Tahoma"/>
                <a:cs typeface="Tahoma"/>
              </a:rPr>
              <a:t>to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65" dirty="0">
                <a:latin typeface="Tahoma"/>
                <a:cs typeface="Tahoma"/>
              </a:rPr>
              <a:t>detect</a:t>
            </a:r>
            <a:r>
              <a:rPr sz="1850" spc="-60" dirty="0">
                <a:latin typeface="Tahoma"/>
                <a:cs typeface="Tahoma"/>
              </a:rPr>
              <a:t> </a:t>
            </a:r>
            <a:r>
              <a:rPr sz="1850" spc="-90" dirty="0">
                <a:latin typeface="Tahoma"/>
                <a:cs typeface="Tahoma"/>
              </a:rPr>
              <a:t>patterns</a:t>
            </a:r>
            <a:r>
              <a:rPr sz="1850" spc="-60" dirty="0">
                <a:latin typeface="Tahoma"/>
                <a:cs typeface="Tahoma"/>
              </a:rPr>
              <a:t> </a:t>
            </a:r>
            <a:r>
              <a:rPr sz="1850" spc="-80" dirty="0">
                <a:latin typeface="Tahoma"/>
                <a:cs typeface="Tahoma"/>
              </a:rPr>
              <a:t>in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25" dirty="0">
                <a:latin typeface="Tahoma"/>
                <a:cs typeface="Tahoma"/>
              </a:rPr>
              <a:t>power</a:t>
            </a:r>
            <a:r>
              <a:rPr sz="1850" spc="-60" dirty="0">
                <a:latin typeface="Tahoma"/>
                <a:cs typeface="Tahoma"/>
              </a:rPr>
              <a:t> </a:t>
            </a:r>
            <a:r>
              <a:rPr sz="1850" spc="-10" dirty="0">
                <a:latin typeface="Tahoma"/>
                <a:cs typeface="Tahoma"/>
              </a:rPr>
              <a:t>consumption.</a:t>
            </a:r>
            <a:endParaRPr sz="1850" dirty="0">
              <a:latin typeface="Tahoma"/>
              <a:cs typeface="Tahoma"/>
            </a:endParaRPr>
          </a:p>
          <a:p>
            <a:pPr marL="240029" marR="273050" indent="-192405">
              <a:lnSpc>
                <a:spcPct val="11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1850" spc="-150" dirty="0">
                <a:latin typeface="Arial Black"/>
                <a:cs typeface="Arial Black"/>
              </a:rPr>
              <a:t>EMF</a:t>
            </a:r>
            <a:r>
              <a:rPr sz="1850" spc="-90" dirty="0">
                <a:latin typeface="Arial Black"/>
                <a:cs typeface="Arial Black"/>
              </a:rPr>
              <a:t> </a:t>
            </a:r>
            <a:r>
              <a:rPr sz="1850" spc="-180" dirty="0">
                <a:latin typeface="Arial Black"/>
                <a:cs typeface="Arial Black"/>
              </a:rPr>
              <a:t>Shielding</a:t>
            </a:r>
            <a:r>
              <a:rPr sz="1850" spc="-180" dirty="0">
                <a:latin typeface="Tahoma"/>
                <a:cs typeface="Tahoma"/>
              </a:rPr>
              <a:t>: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85" dirty="0">
                <a:latin typeface="Tahoma"/>
                <a:cs typeface="Tahoma"/>
              </a:rPr>
              <a:t>Reduce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5" dirty="0">
                <a:latin typeface="Tahoma"/>
                <a:cs typeface="Tahoma"/>
              </a:rPr>
              <a:t>electromagnetic</a:t>
            </a:r>
            <a:r>
              <a:rPr sz="1850" spc="-50" dirty="0">
                <a:latin typeface="Tahoma"/>
                <a:cs typeface="Tahoma"/>
              </a:rPr>
              <a:t> </a:t>
            </a:r>
            <a:r>
              <a:rPr sz="1850" spc="-85" dirty="0">
                <a:latin typeface="Tahoma"/>
                <a:cs typeface="Tahoma"/>
              </a:rPr>
              <a:t>emissions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50" dirty="0">
                <a:latin typeface="Tahoma"/>
                <a:cs typeface="Tahoma"/>
              </a:rPr>
              <a:t>from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25" dirty="0">
                <a:latin typeface="Tahoma"/>
                <a:cs typeface="Tahoma"/>
              </a:rPr>
              <a:t>the 	</a:t>
            </a:r>
            <a:r>
              <a:rPr sz="1850" spc="-10" dirty="0">
                <a:latin typeface="Tahoma"/>
                <a:cs typeface="Tahoma"/>
              </a:rPr>
              <a:t>hardware.</a:t>
            </a:r>
            <a:endParaRPr sz="1850" dirty="0">
              <a:latin typeface="Tahoma"/>
              <a:cs typeface="Tahoma"/>
            </a:endParaRPr>
          </a:p>
          <a:p>
            <a:pPr marL="240029" marR="5080" indent="-192405">
              <a:lnSpc>
                <a:spcPct val="11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1850" spc="-180" dirty="0">
                <a:latin typeface="Arial Black"/>
                <a:cs typeface="Arial Black"/>
              </a:rPr>
              <a:t>Power</a:t>
            </a:r>
            <a:r>
              <a:rPr sz="1850" spc="-75" dirty="0">
                <a:latin typeface="Arial Black"/>
                <a:cs typeface="Arial Black"/>
              </a:rPr>
              <a:t> </a:t>
            </a:r>
            <a:r>
              <a:rPr sz="1850" spc="-200" dirty="0">
                <a:latin typeface="Arial Black"/>
                <a:cs typeface="Arial Black"/>
              </a:rPr>
              <a:t>Analysis</a:t>
            </a:r>
            <a:r>
              <a:rPr sz="1850" spc="-75" dirty="0">
                <a:latin typeface="Arial Black"/>
                <a:cs typeface="Arial Black"/>
              </a:rPr>
              <a:t> </a:t>
            </a:r>
            <a:r>
              <a:rPr sz="1850" spc="-160" dirty="0">
                <a:latin typeface="Arial Black"/>
                <a:cs typeface="Arial Black"/>
              </a:rPr>
              <a:t>Counters</a:t>
            </a:r>
            <a:r>
              <a:rPr sz="1850" spc="-160" dirty="0">
                <a:latin typeface="Tahoma"/>
                <a:cs typeface="Tahoma"/>
              </a:rPr>
              <a:t>: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25" dirty="0">
                <a:latin typeface="Tahoma"/>
                <a:cs typeface="Tahoma"/>
              </a:rPr>
              <a:t>Power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150" dirty="0">
                <a:latin typeface="Tahoma"/>
                <a:cs typeface="Tahoma"/>
              </a:rPr>
              <a:t>gating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135" dirty="0">
                <a:latin typeface="Tahoma"/>
                <a:cs typeface="Tahoma"/>
              </a:rPr>
              <a:t>and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125" dirty="0">
                <a:latin typeface="Tahoma"/>
                <a:cs typeface="Tahoma"/>
              </a:rPr>
              <a:t>balancing</a:t>
            </a:r>
            <a:r>
              <a:rPr sz="1850" spc="-35" dirty="0">
                <a:latin typeface="Tahoma"/>
                <a:cs typeface="Tahoma"/>
              </a:rPr>
              <a:t> </a:t>
            </a:r>
            <a:r>
              <a:rPr sz="1850" spc="-10" dirty="0">
                <a:latin typeface="Tahoma"/>
                <a:cs typeface="Tahoma"/>
              </a:rPr>
              <a:t>power 	</a:t>
            </a:r>
            <a:r>
              <a:rPr sz="1850" spc="-75" dirty="0">
                <a:latin typeface="Tahoma"/>
                <a:cs typeface="Tahoma"/>
              </a:rPr>
              <a:t>consumption</a:t>
            </a:r>
            <a:r>
              <a:rPr sz="1850" spc="-40" dirty="0">
                <a:latin typeface="Tahoma"/>
                <a:cs typeface="Tahoma"/>
              </a:rPr>
              <a:t> </a:t>
            </a:r>
            <a:r>
              <a:rPr sz="1850" dirty="0">
                <a:latin typeface="Tahoma"/>
                <a:cs typeface="Tahoma"/>
              </a:rPr>
              <a:t>to</a:t>
            </a:r>
            <a:r>
              <a:rPr sz="1850" spc="-40" dirty="0">
                <a:latin typeface="Tahoma"/>
                <a:cs typeface="Tahoma"/>
              </a:rPr>
              <a:t> </a:t>
            </a:r>
            <a:r>
              <a:rPr sz="1850" spc="-80" dirty="0">
                <a:latin typeface="Tahoma"/>
                <a:cs typeface="Tahoma"/>
              </a:rPr>
              <a:t>prevent</a:t>
            </a:r>
            <a:r>
              <a:rPr sz="1850" spc="-40" dirty="0">
                <a:latin typeface="Tahoma"/>
                <a:cs typeface="Tahoma"/>
              </a:rPr>
              <a:t> </a:t>
            </a:r>
            <a:r>
              <a:rPr sz="1850" spc="-30" dirty="0">
                <a:latin typeface="Tahoma"/>
                <a:cs typeface="Tahoma"/>
              </a:rPr>
              <a:t>correlation</a:t>
            </a:r>
            <a:r>
              <a:rPr sz="1850" spc="-40" dirty="0">
                <a:latin typeface="Tahoma"/>
                <a:cs typeface="Tahoma"/>
              </a:rPr>
              <a:t> </a:t>
            </a:r>
            <a:r>
              <a:rPr sz="1850" spc="-85" dirty="0">
                <a:latin typeface="Tahoma"/>
                <a:cs typeface="Tahoma"/>
              </a:rPr>
              <a:t>between</a:t>
            </a:r>
            <a:r>
              <a:rPr sz="1850" spc="-40" dirty="0">
                <a:latin typeface="Tahoma"/>
                <a:cs typeface="Tahoma"/>
              </a:rPr>
              <a:t> </a:t>
            </a:r>
            <a:r>
              <a:rPr sz="1850" spc="-65" dirty="0">
                <a:latin typeface="Tahoma"/>
                <a:cs typeface="Tahoma"/>
              </a:rPr>
              <a:t>operations</a:t>
            </a:r>
            <a:r>
              <a:rPr sz="1850" spc="-40" dirty="0">
                <a:latin typeface="Tahoma"/>
                <a:cs typeface="Tahoma"/>
              </a:rPr>
              <a:t> </a:t>
            </a:r>
            <a:r>
              <a:rPr sz="1850" spc="-25" dirty="0">
                <a:latin typeface="Tahoma"/>
                <a:cs typeface="Tahoma"/>
              </a:rPr>
              <a:t>and 	power</a:t>
            </a:r>
            <a:r>
              <a:rPr sz="1850" spc="-120" dirty="0">
                <a:latin typeface="Tahoma"/>
                <a:cs typeface="Tahoma"/>
              </a:rPr>
              <a:t> </a:t>
            </a:r>
            <a:r>
              <a:rPr sz="1850" spc="-10" dirty="0">
                <a:latin typeface="Tahoma"/>
                <a:cs typeface="Tahoma"/>
              </a:rPr>
              <a:t>usage.</a:t>
            </a:r>
            <a:endParaRPr sz="185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874510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600" y="457200"/>
            <a:ext cx="11852359" cy="516808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dirty="0"/>
              <a:t>HARDWARE-LEVEL</a:t>
            </a:r>
            <a:r>
              <a:rPr spc="85" dirty="0"/>
              <a:t> </a:t>
            </a:r>
            <a:r>
              <a:rPr spc="-10" dirty="0"/>
              <a:t>MITIGATION 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800" y="1447800"/>
            <a:ext cx="6242050" cy="241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95" dirty="0">
                <a:latin typeface="Arial Black"/>
                <a:cs typeface="Arial Black"/>
              </a:rPr>
              <a:t>Real-</a:t>
            </a:r>
            <a:r>
              <a:rPr sz="2000" spc="-105" dirty="0">
                <a:latin typeface="Arial Black"/>
                <a:cs typeface="Arial Black"/>
              </a:rPr>
              <a:t>World</a:t>
            </a:r>
            <a:r>
              <a:rPr sz="2000" spc="-75" dirty="0">
                <a:latin typeface="Arial Black"/>
                <a:cs typeface="Arial Black"/>
              </a:rPr>
              <a:t> </a:t>
            </a:r>
            <a:r>
              <a:rPr sz="2000" spc="-195" dirty="0">
                <a:latin typeface="Arial Black"/>
                <a:cs typeface="Arial Black"/>
              </a:rPr>
              <a:t>Testing</a:t>
            </a:r>
            <a:r>
              <a:rPr sz="2000" spc="-75" dirty="0">
                <a:latin typeface="Arial Black"/>
                <a:cs typeface="Arial Black"/>
              </a:rPr>
              <a:t> </a:t>
            </a:r>
            <a:r>
              <a:rPr sz="2000" spc="-220" dirty="0">
                <a:latin typeface="Arial Black"/>
                <a:cs typeface="Arial Black"/>
              </a:rPr>
              <a:t>and</a:t>
            </a:r>
            <a:r>
              <a:rPr sz="2000" spc="-75" dirty="0">
                <a:latin typeface="Arial Black"/>
                <a:cs typeface="Arial Black"/>
              </a:rPr>
              <a:t> </a:t>
            </a:r>
            <a:r>
              <a:rPr sz="2000" spc="-195" dirty="0">
                <a:latin typeface="Arial Black"/>
                <a:cs typeface="Arial Black"/>
              </a:rPr>
              <a:t>Regular</a:t>
            </a:r>
            <a:r>
              <a:rPr sz="2000" spc="-75" dirty="0">
                <a:latin typeface="Arial Black"/>
                <a:cs typeface="Arial Black"/>
              </a:rPr>
              <a:t> </a:t>
            </a:r>
            <a:r>
              <a:rPr sz="2000" spc="-10" dirty="0">
                <a:latin typeface="Arial Black"/>
                <a:cs typeface="Arial Black"/>
              </a:rPr>
              <a:t>Auditing</a:t>
            </a:r>
            <a:endParaRPr sz="2000" dirty="0">
              <a:latin typeface="Arial Black"/>
              <a:cs typeface="Arial Black"/>
            </a:endParaRPr>
          </a:p>
          <a:p>
            <a:pPr marL="240029" marR="5080" indent="-189230" algn="just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220" dirty="0">
                <a:latin typeface="Arial Black"/>
                <a:cs typeface="Arial Black"/>
              </a:rPr>
              <a:t>Testing</a:t>
            </a:r>
            <a:r>
              <a:rPr sz="2000" spc="50" dirty="0">
                <a:latin typeface="Arial Black"/>
                <a:cs typeface="Arial Black"/>
              </a:rPr>
              <a:t> </a:t>
            </a:r>
            <a:r>
              <a:rPr sz="2000" spc="-180" dirty="0">
                <a:latin typeface="Arial Black"/>
                <a:cs typeface="Arial Black"/>
              </a:rPr>
              <a:t>under</a:t>
            </a:r>
            <a:r>
              <a:rPr sz="2000" spc="15" dirty="0">
                <a:latin typeface="Arial Black"/>
                <a:cs typeface="Arial Black"/>
              </a:rPr>
              <a:t> </a:t>
            </a:r>
            <a:r>
              <a:rPr sz="2000" spc="-270" dirty="0">
                <a:latin typeface="Arial Black"/>
                <a:cs typeface="Arial Black"/>
              </a:rPr>
              <a:t>Real</a:t>
            </a:r>
            <a:r>
              <a:rPr sz="2000" spc="105" dirty="0">
                <a:latin typeface="Arial Black"/>
                <a:cs typeface="Arial Black"/>
              </a:rPr>
              <a:t> </a:t>
            </a:r>
            <a:r>
              <a:rPr sz="2000" spc="-180" dirty="0">
                <a:latin typeface="Arial Black"/>
                <a:cs typeface="Arial Black"/>
              </a:rPr>
              <a:t>Conditions</a:t>
            </a:r>
            <a:r>
              <a:rPr sz="2000" spc="-180" dirty="0">
                <a:latin typeface="Tahoma"/>
                <a:cs typeface="Tahoma"/>
              </a:rPr>
              <a:t>:</a:t>
            </a:r>
            <a:r>
              <a:rPr sz="2000" spc="2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Expose</a:t>
            </a:r>
            <a:r>
              <a:rPr sz="2000" spc="5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cryptographic 	</a:t>
            </a:r>
            <a:r>
              <a:rPr sz="2000" spc="-95" dirty="0">
                <a:latin typeface="Tahoma"/>
                <a:cs typeface="Tahoma"/>
              </a:rPr>
              <a:t>devices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environmental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factors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80" dirty="0">
                <a:latin typeface="Tahoma"/>
                <a:cs typeface="Tahoma"/>
              </a:rPr>
              <a:t>(e.g.,</a:t>
            </a:r>
            <a:r>
              <a:rPr sz="2000" spc="2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power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fluctuations) 	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test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resistance.</a:t>
            </a:r>
            <a:endParaRPr sz="2000" dirty="0">
              <a:latin typeface="Tahoma"/>
              <a:cs typeface="Tahoma"/>
            </a:endParaRPr>
          </a:p>
          <a:p>
            <a:pPr marL="240029" marR="470534" indent="-189230" algn="just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210" dirty="0">
                <a:latin typeface="Arial Black"/>
                <a:cs typeface="Arial Black"/>
              </a:rPr>
              <a:t>Security</a:t>
            </a:r>
            <a:r>
              <a:rPr sz="2000" spc="40" dirty="0">
                <a:latin typeface="Arial Black"/>
                <a:cs typeface="Arial Black"/>
              </a:rPr>
              <a:t> </a:t>
            </a:r>
            <a:r>
              <a:rPr sz="2000" spc="-190" dirty="0">
                <a:latin typeface="Arial Black"/>
                <a:cs typeface="Arial Black"/>
              </a:rPr>
              <a:t>Audits</a:t>
            </a:r>
            <a:r>
              <a:rPr sz="2000" spc="-190" dirty="0">
                <a:latin typeface="Tahoma"/>
                <a:cs typeface="Tahoma"/>
              </a:rPr>
              <a:t>:</a:t>
            </a:r>
            <a:r>
              <a:rPr sz="2000" spc="3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Regular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reviews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70" dirty="0">
                <a:latin typeface="Tahoma"/>
                <a:cs typeface="Tahoma"/>
              </a:rPr>
              <a:t>and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checks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find 	vulnerabilities.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3022600" y="4038600"/>
            <a:ext cx="610933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75" dirty="0">
                <a:latin typeface="Arial Black"/>
                <a:cs typeface="Arial Black"/>
              </a:rPr>
              <a:t>Randomizing</a:t>
            </a:r>
            <a:r>
              <a:rPr sz="2000" spc="-65" dirty="0">
                <a:latin typeface="Arial Black"/>
                <a:cs typeface="Arial Black"/>
              </a:rPr>
              <a:t> </a:t>
            </a:r>
            <a:r>
              <a:rPr sz="2000" spc="-60" dirty="0">
                <a:latin typeface="Arial Black"/>
                <a:cs typeface="Arial Black"/>
              </a:rPr>
              <a:t>Operations</a:t>
            </a:r>
            <a:endParaRPr sz="2000" dirty="0">
              <a:latin typeface="Arial Black"/>
              <a:cs typeface="Arial Black"/>
            </a:endParaRPr>
          </a:p>
          <a:p>
            <a:pPr marL="240029" indent="-189230">
              <a:spcBef>
                <a:spcPts val="1480"/>
              </a:spcBef>
              <a:buClr>
                <a:srgbClr val="B71E42"/>
              </a:buClr>
              <a:buFont typeface="Arial"/>
              <a:buChar char="•"/>
              <a:tabLst>
                <a:tab pos="240029" algn="l"/>
              </a:tabLst>
            </a:pPr>
            <a:r>
              <a:rPr sz="2000" spc="-185" dirty="0">
                <a:latin typeface="Arial Black"/>
                <a:cs typeface="Arial Black"/>
              </a:rPr>
              <a:t>Goal</a:t>
            </a:r>
            <a:r>
              <a:rPr sz="2000" spc="-185" dirty="0">
                <a:latin typeface="Tahoma"/>
                <a:cs typeface="Tahoma"/>
              </a:rPr>
              <a:t>: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Obfuscate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data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access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patterns.</a:t>
            </a:r>
            <a:endParaRPr sz="2000" dirty="0">
              <a:latin typeface="Tahoma"/>
              <a:cs typeface="Tahoma"/>
            </a:endParaRPr>
          </a:p>
          <a:p>
            <a:pPr marL="240029" marR="508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85" dirty="0">
                <a:latin typeface="Arial Black"/>
                <a:cs typeface="Arial Black"/>
              </a:rPr>
              <a:t>Method</a:t>
            </a:r>
            <a:r>
              <a:rPr sz="2000" spc="-185" dirty="0">
                <a:latin typeface="Tahoma"/>
                <a:cs typeface="Tahoma"/>
              </a:rPr>
              <a:t>: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Introduce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random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delays,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algorithmic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noise,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or 	</a:t>
            </a:r>
            <a:r>
              <a:rPr sz="2000" spc="-130" dirty="0">
                <a:latin typeface="Tahoma"/>
                <a:cs typeface="Tahoma"/>
              </a:rPr>
              <a:t>dummy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instructions</a:t>
            </a:r>
            <a:r>
              <a:rPr sz="2000" spc="-65" dirty="0">
                <a:latin typeface="Tahoma"/>
                <a:cs typeface="Tahoma"/>
              </a:rPr>
              <a:t> in </a:t>
            </a:r>
            <a:r>
              <a:rPr sz="2000" spc="-10" dirty="0">
                <a:latin typeface="Tahoma"/>
                <a:cs typeface="Tahoma"/>
              </a:rPr>
              <a:t>code.</a:t>
            </a:r>
            <a:endParaRPr sz="2000" dirty="0">
              <a:latin typeface="Tahoma"/>
              <a:cs typeface="Tahoma"/>
            </a:endParaRPr>
          </a:p>
          <a:p>
            <a:pPr marL="240029" marR="760095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70" dirty="0">
                <a:latin typeface="Arial Black"/>
                <a:cs typeface="Arial Black"/>
              </a:rPr>
              <a:t>Why?</a:t>
            </a:r>
            <a:r>
              <a:rPr sz="2000" spc="-170" dirty="0">
                <a:latin typeface="Tahoma"/>
                <a:cs typeface="Tahoma"/>
              </a:rPr>
              <a:t>: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Makes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it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harder </a:t>
            </a:r>
            <a:r>
              <a:rPr sz="2000" spc="-10" dirty="0">
                <a:latin typeface="Tahoma"/>
                <a:cs typeface="Tahoma"/>
              </a:rPr>
              <a:t>for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attackers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correlate 	</a:t>
            </a:r>
            <a:r>
              <a:rPr sz="2000" spc="-95" dirty="0">
                <a:latin typeface="Tahoma"/>
                <a:cs typeface="Tahoma"/>
              </a:rPr>
              <a:t>side-</a:t>
            </a:r>
            <a:r>
              <a:rPr sz="2000" spc="-110" dirty="0">
                <a:latin typeface="Tahoma"/>
                <a:cs typeface="Tahoma"/>
              </a:rPr>
              <a:t>channel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signals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the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actual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data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or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keys.</a:t>
            </a:r>
            <a:endParaRPr sz="20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910282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304800"/>
            <a:ext cx="11852359" cy="516808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pc="-30" dirty="0"/>
              <a:t>SOFTWARE-</a:t>
            </a:r>
            <a:r>
              <a:rPr dirty="0"/>
              <a:t>LEVEL</a:t>
            </a:r>
            <a:r>
              <a:rPr spc="-175" dirty="0"/>
              <a:t> </a:t>
            </a:r>
            <a:r>
              <a:rPr spc="-10" dirty="0"/>
              <a:t>MITIGATION 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800" y="1295400"/>
            <a:ext cx="638937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40" dirty="0">
                <a:latin typeface="Arial Black"/>
                <a:cs typeface="Arial Black"/>
              </a:rPr>
              <a:t>Constant-</a:t>
            </a:r>
            <a:r>
              <a:rPr sz="2000" spc="-160" dirty="0">
                <a:latin typeface="Arial Black"/>
                <a:cs typeface="Arial Black"/>
              </a:rPr>
              <a:t>Time</a:t>
            </a:r>
            <a:r>
              <a:rPr sz="2000" spc="-65" dirty="0">
                <a:latin typeface="Arial Black"/>
                <a:cs typeface="Arial Black"/>
              </a:rPr>
              <a:t> </a:t>
            </a:r>
            <a:r>
              <a:rPr sz="2000" spc="-110" dirty="0">
                <a:latin typeface="Arial Black"/>
                <a:cs typeface="Arial Black"/>
              </a:rPr>
              <a:t>Algorithm</a:t>
            </a:r>
            <a:r>
              <a:rPr sz="2000" spc="-60" dirty="0">
                <a:latin typeface="Arial Black"/>
                <a:cs typeface="Arial Black"/>
              </a:rPr>
              <a:t> </a:t>
            </a:r>
            <a:r>
              <a:rPr sz="2000" spc="-50" dirty="0">
                <a:latin typeface="Arial Black"/>
                <a:cs typeface="Arial Black"/>
              </a:rPr>
              <a:t>Usage</a:t>
            </a:r>
            <a:endParaRPr sz="2000" dirty="0">
              <a:latin typeface="Arial Black"/>
              <a:cs typeface="Arial Black"/>
            </a:endParaRPr>
          </a:p>
          <a:p>
            <a:pPr marL="240029" indent="-189230">
              <a:spcBef>
                <a:spcPts val="1480"/>
              </a:spcBef>
              <a:buClr>
                <a:srgbClr val="B71E42"/>
              </a:buClr>
              <a:buFont typeface="Arial"/>
              <a:buChar char="•"/>
              <a:tabLst>
                <a:tab pos="240029" algn="l"/>
              </a:tabLst>
            </a:pPr>
            <a:r>
              <a:rPr sz="2000" spc="-185" dirty="0">
                <a:latin typeface="Arial Black"/>
                <a:cs typeface="Arial Black"/>
              </a:rPr>
              <a:t>Goal</a:t>
            </a:r>
            <a:r>
              <a:rPr sz="2000" spc="-185" dirty="0">
                <a:latin typeface="Tahoma"/>
                <a:cs typeface="Tahoma"/>
              </a:rPr>
              <a:t>: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Ensure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uniform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processing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times.</a:t>
            </a:r>
            <a:endParaRPr sz="2000" dirty="0">
              <a:latin typeface="Tahoma"/>
              <a:cs typeface="Tahoma"/>
            </a:endParaRPr>
          </a:p>
          <a:p>
            <a:pPr marL="240029" marR="508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85" dirty="0">
                <a:latin typeface="Arial Black"/>
                <a:cs typeface="Arial Black"/>
              </a:rPr>
              <a:t>Method</a:t>
            </a:r>
            <a:r>
              <a:rPr sz="2000" spc="-185" dirty="0">
                <a:latin typeface="Tahoma"/>
                <a:cs typeface="Tahoma"/>
              </a:rPr>
              <a:t>: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Algorithms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should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take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the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45" dirty="0">
                <a:latin typeface="Tahoma"/>
                <a:cs typeface="Tahoma"/>
              </a:rPr>
              <a:t>same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amount</a:t>
            </a:r>
            <a:r>
              <a:rPr sz="2000" spc="-60" dirty="0">
                <a:latin typeface="Tahoma"/>
                <a:cs typeface="Tahoma"/>
              </a:rPr>
              <a:t> of </a:t>
            </a:r>
            <a:r>
              <a:rPr sz="2000" spc="-40" dirty="0">
                <a:latin typeface="Tahoma"/>
                <a:cs typeface="Tahoma"/>
              </a:rPr>
              <a:t>time, 	</a:t>
            </a:r>
            <a:r>
              <a:rPr sz="2000" spc="-35" dirty="0">
                <a:latin typeface="Tahoma"/>
                <a:cs typeface="Tahoma"/>
              </a:rPr>
              <a:t>no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matter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the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input.</a:t>
            </a:r>
            <a:endParaRPr sz="2000" dirty="0">
              <a:latin typeface="Tahoma"/>
              <a:cs typeface="Tahoma"/>
            </a:endParaRPr>
          </a:p>
          <a:p>
            <a:pPr marL="240029" marR="40259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70" dirty="0">
                <a:latin typeface="Arial Black"/>
                <a:cs typeface="Arial Black"/>
              </a:rPr>
              <a:t>Why?</a:t>
            </a:r>
            <a:r>
              <a:rPr sz="2000" spc="-170" dirty="0">
                <a:latin typeface="Tahoma"/>
                <a:cs typeface="Tahoma"/>
              </a:rPr>
              <a:t>: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Prevents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timing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attacks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that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exploit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variations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in 	</a:t>
            </a:r>
            <a:r>
              <a:rPr sz="2000" spc="-55" dirty="0">
                <a:latin typeface="Tahoma"/>
                <a:cs typeface="Tahoma"/>
              </a:rPr>
              <a:t>execution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time.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3860800" y="3733800"/>
            <a:ext cx="6281420" cy="2905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60" dirty="0">
                <a:latin typeface="Arial Black"/>
                <a:cs typeface="Arial Black"/>
              </a:rPr>
              <a:t>Cryptographic</a:t>
            </a:r>
            <a:r>
              <a:rPr sz="2000" spc="-70" dirty="0">
                <a:latin typeface="Arial Black"/>
                <a:cs typeface="Arial Black"/>
              </a:rPr>
              <a:t> </a:t>
            </a:r>
            <a:r>
              <a:rPr sz="2000" spc="-150" dirty="0">
                <a:latin typeface="Arial Black"/>
                <a:cs typeface="Arial Black"/>
              </a:rPr>
              <a:t>Algorithms</a:t>
            </a:r>
            <a:r>
              <a:rPr sz="2000" spc="-65" dirty="0">
                <a:latin typeface="Arial Black"/>
                <a:cs typeface="Arial Black"/>
              </a:rPr>
              <a:t> </a:t>
            </a:r>
            <a:r>
              <a:rPr sz="2000" spc="-50" dirty="0">
                <a:latin typeface="Arial Black"/>
                <a:cs typeface="Arial Black"/>
              </a:rPr>
              <a:t>Integration</a:t>
            </a:r>
            <a:endParaRPr sz="2000" dirty="0">
              <a:latin typeface="Arial Black"/>
              <a:cs typeface="Arial Black"/>
            </a:endParaRPr>
          </a:p>
          <a:p>
            <a:pPr marL="240029" marR="508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235" dirty="0">
                <a:latin typeface="Arial Black"/>
                <a:cs typeface="Arial Black"/>
              </a:rPr>
              <a:t>Masking</a:t>
            </a:r>
            <a:r>
              <a:rPr sz="2000" spc="-90" dirty="0">
                <a:latin typeface="Arial Black"/>
                <a:cs typeface="Arial Black"/>
              </a:rPr>
              <a:t> or</a:t>
            </a:r>
            <a:r>
              <a:rPr sz="2000" spc="-85" dirty="0">
                <a:latin typeface="Arial Black"/>
                <a:cs typeface="Arial Black"/>
              </a:rPr>
              <a:t> </a:t>
            </a:r>
            <a:r>
              <a:rPr sz="2000" spc="-145" dirty="0">
                <a:latin typeface="Arial Black"/>
                <a:cs typeface="Arial Black"/>
              </a:rPr>
              <a:t>Hiding</a:t>
            </a:r>
            <a:r>
              <a:rPr sz="2000" spc="-85" dirty="0">
                <a:latin typeface="Arial Black"/>
                <a:cs typeface="Arial Black"/>
              </a:rPr>
              <a:t> </a:t>
            </a:r>
            <a:r>
              <a:rPr sz="2000" spc="-220" dirty="0">
                <a:latin typeface="Arial Black"/>
                <a:cs typeface="Arial Black"/>
              </a:rPr>
              <a:t>Techniques</a:t>
            </a:r>
            <a:r>
              <a:rPr sz="2000" spc="-220" dirty="0">
                <a:latin typeface="Tahoma"/>
                <a:cs typeface="Tahoma"/>
              </a:rPr>
              <a:t>: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Modify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data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make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it 	</a:t>
            </a:r>
            <a:r>
              <a:rPr sz="2000" spc="-75" dirty="0">
                <a:latin typeface="Tahoma"/>
                <a:cs typeface="Tahoma"/>
              </a:rPr>
              <a:t>harder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extract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secrets.</a:t>
            </a:r>
            <a:endParaRPr sz="2000" dirty="0">
              <a:latin typeface="Tahoma"/>
              <a:cs typeface="Tahoma"/>
            </a:endParaRPr>
          </a:p>
          <a:p>
            <a:pPr marL="240029" marR="110489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80" dirty="0">
                <a:latin typeface="Arial Black"/>
                <a:cs typeface="Arial Black"/>
              </a:rPr>
              <a:t>DPA-</a:t>
            </a:r>
            <a:r>
              <a:rPr sz="2000" spc="-165" dirty="0">
                <a:latin typeface="Arial Black"/>
                <a:cs typeface="Arial Black"/>
              </a:rPr>
              <a:t>Resistant</a:t>
            </a:r>
            <a:r>
              <a:rPr sz="2000" spc="-70" dirty="0">
                <a:latin typeface="Arial Black"/>
                <a:cs typeface="Arial Black"/>
              </a:rPr>
              <a:t> </a:t>
            </a:r>
            <a:r>
              <a:rPr sz="2000" spc="-165" dirty="0">
                <a:latin typeface="Arial Black"/>
                <a:cs typeface="Arial Black"/>
              </a:rPr>
              <a:t>Algorithms</a:t>
            </a:r>
            <a:r>
              <a:rPr sz="2000" spc="-165" dirty="0">
                <a:latin typeface="Tahoma"/>
                <a:cs typeface="Tahoma"/>
              </a:rPr>
              <a:t>: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Use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algorithms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that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resist 	</a:t>
            </a:r>
            <a:r>
              <a:rPr sz="2000" spc="-60" dirty="0">
                <a:latin typeface="Tahoma"/>
                <a:cs typeface="Tahoma"/>
              </a:rPr>
              <a:t>Differential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Power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Analysis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(DPA).</a:t>
            </a:r>
            <a:endParaRPr sz="2000" dirty="0">
              <a:latin typeface="Tahoma"/>
              <a:cs typeface="Tahoma"/>
            </a:endParaRPr>
          </a:p>
          <a:p>
            <a:pPr marL="240029" marR="694690" indent="-18923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05" dirty="0">
                <a:latin typeface="Arial Black"/>
                <a:cs typeface="Arial Black"/>
              </a:rPr>
              <a:t>White-</a:t>
            </a:r>
            <a:r>
              <a:rPr sz="2000" spc="-125" dirty="0">
                <a:latin typeface="Arial Black"/>
                <a:cs typeface="Arial Black"/>
              </a:rPr>
              <a:t>Box</a:t>
            </a:r>
            <a:r>
              <a:rPr sz="2000" spc="-80" dirty="0">
                <a:latin typeface="Arial Black"/>
                <a:cs typeface="Arial Black"/>
              </a:rPr>
              <a:t> </a:t>
            </a:r>
            <a:r>
              <a:rPr sz="2000" spc="-160" dirty="0">
                <a:latin typeface="Arial Black"/>
                <a:cs typeface="Arial Black"/>
              </a:rPr>
              <a:t>Cryptography</a:t>
            </a:r>
            <a:r>
              <a:rPr sz="2000" spc="-160" dirty="0">
                <a:latin typeface="Tahoma"/>
                <a:cs typeface="Tahoma"/>
              </a:rPr>
              <a:t>: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Secure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cryptographic 	</a:t>
            </a:r>
            <a:r>
              <a:rPr sz="2000" spc="-95" dirty="0">
                <a:latin typeface="Tahoma"/>
                <a:cs typeface="Tahoma"/>
              </a:rPr>
              <a:t>algorithms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by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obfuscating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the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keys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and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operations.</a:t>
            </a:r>
            <a:endParaRPr sz="20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82836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6041" y="457200"/>
            <a:ext cx="118523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cap="small" spc="-135" dirty="0" smtClean="0"/>
              <a:t>CASE STUDY: </a:t>
            </a:r>
            <a:r>
              <a:rPr cap="small" spc="-135" dirty="0" smtClean="0"/>
              <a:t>Linux</a:t>
            </a:r>
            <a:r>
              <a:rPr cap="small" spc="40" dirty="0" smtClean="0"/>
              <a:t> </a:t>
            </a:r>
            <a:r>
              <a:rPr cap="small" spc="-175" dirty="0"/>
              <a:t>Security</a:t>
            </a:r>
            <a:r>
              <a:rPr cap="small" spc="40" dirty="0"/>
              <a:t> </a:t>
            </a:r>
            <a:r>
              <a:rPr cap="small" spc="-245" dirty="0"/>
              <a:t>Module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5154" y="1153279"/>
            <a:ext cx="11388090" cy="488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6705" marR="389890" indent="-294640">
              <a:lnSpc>
                <a:spcPct val="100899"/>
              </a:lnSpc>
              <a:spcBef>
                <a:spcPts val="9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Linux Security Modules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(LSM)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framework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 mechanism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various </a:t>
            </a:r>
            <a:r>
              <a:rPr sz="2200" spc="-10" dirty="0">
                <a:latin typeface="Times New Roman"/>
                <a:cs typeface="Times New Roman"/>
              </a:rPr>
              <a:t>security </a:t>
            </a:r>
            <a:r>
              <a:rPr sz="2200" dirty="0">
                <a:latin typeface="Times New Roman"/>
                <a:cs typeface="Times New Roman"/>
              </a:rPr>
              <a:t>models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implemented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loadable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modules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Linux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kernel.</a:t>
            </a:r>
            <a:endParaRPr sz="2200" dirty="0">
              <a:latin typeface="Times New Roman"/>
              <a:cs typeface="Times New Roman"/>
            </a:endParaRPr>
          </a:p>
          <a:p>
            <a:pPr marL="306705" marR="330835" indent="-2946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The LSM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framework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modules 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mediate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internal kernel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objects,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files,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sockets,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thereby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enforcing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policies.</a:t>
            </a:r>
            <a:endParaRPr sz="2200" dirty="0">
              <a:latin typeface="Times New Roman"/>
              <a:cs typeface="Times New Roman"/>
            </a:endParaRPr>
          </a:p>
          <a:p>
            <a:pPr marL="306705" marR="5080" indent="-2946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The Linux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module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(LSM)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framework,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allows 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extensions 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plugged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kernel,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been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implement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Linux.</a:t>
            </a:r>
            <a:endParaRPr sz="2200" dirty="0">
              <a:latin typeface="Times New Roman"/>
              <a:cs typeface="Times New Roman"/>
            </a:endParaRPr>
          </a:p>
          <a:p>
            <a:pPr marL="306705" marR="54610" indent="-2946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LSM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hooks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Linux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mediates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internal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objects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inodes,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files, </a:t>
            </a:r>
            <a:r>
              <a:rPr sz="2200" dirty="0">
                <a:latin typeface="Times New Roman"/>
                <a:cs typeface="Times New Roman"/>
              </a:rPr>
              <a:t>devices,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IPC.</a:t>
            </a:r>
            <a:endParaRPr sz="2200" dirty="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62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LSMs, 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general, refer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generic hooks added 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core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 </a:t>
            </a:r>
            <a:r>
              <a:rPr sz="2200" spc="-10" dirty="0">
                <a:latin typeface="Times New Roman"/>
                <a:cs typeface="Times New Roman"/>
              </a:rPr>
              <a:t>code.</a:t>
            </a:r>
            <a:endParaRPr sz="2200" dirty="0">
              <a:latin typeface="Times New Roman"/>
              <a:cs typeface="Times New Roman"/>
            </a:endParaRPr>
          </a:p>
          <a:p>
            <a:pPr marL="306705" marR="276225" indent="-2946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Further, security modules could make use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these generic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hooks to implement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enhanced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access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independent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modules.</a:t>
            </a:r>
            <a:endParaRPr sz="2200" dirty="0">
              <a:latin typeface="Times New Roman"/>
              <a:cs typeface="Times New Roman"/>
            </a:endParaRPr>
          </a:p>
          <a:p>
            <a:pPr marL="306705" marR="782320" indent="-2946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AppArmor, SELinux,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Smack, TOMOYO 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examples of such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independent kernel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security modules.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871" y="214289"/>
            <a:ext cx="11215765" cy="61167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200" y="1600200"/>
            <a:ext cx="11364595" cy="32562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latin typeface="Times New Roman"/>
                <a:cs typeface="Times New Roman"/>
              </a:rPr>
              <a:t>Key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Features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LSM:</a:t>
            </a:r>
            <a:endParaRPr sz="2400" dirty="0">
              <a:latin typeface="Times New Roman"/>
              <a:cs typeface="Times New Roman"/>
            </a:endParaRPr>
          </a:p>
          <a:p>
            <a:pPr marL="363220" marR="27305" indent="-35115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63220" algn="l"/>
              </a:tabLst>
            </a:pPr>
            <a:r>
              <a:rPr sz="2400" b="1" dirty="0">
                <a:latin typeface="Times New Roman"/>
                <a:cs typeface="Times New Roman"/>
              </a:rPr>
              <a:t>Modularity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LSM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modules,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 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loaded and unloaded </a:t>
            </a:r>
            <a:r>
              <a:rPr sz="2400" spc="-10" dirty="0">
                <a:latin typeface="Times New Roman"/>
                <a:cs typeface="Times New Roman"/>
              </a:rPr>
              <a:t>dynamically.</a:t>
            </a:r>
            <a:endParaRPr sz="2400" dirty="0">
              <a:latin typeface="Times New Roman"/>
              <a:cs typeface="Times New Roman"/>
            </a:endParaRPr>
          </a:p>
          <a:p>
            <a:pPr marL="363220" marR="278765" indent="-35115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63220" algn="l"/>
              </a:tabLst>
            </a:pPr>
            <a:r>
              <a:rPr sz="2400" b="1" dirty="0">
                <a:latin typeface="Times New Roman"/>
                <a:cs typeface="Times New Roman"/>
              </a:rPr>
              <a:t>Flexibility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simultaneously,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although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typically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enforce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control.</a:t>
            </a:r>
            <a:endParaRPr sz="2400" dirty="0">
              <a:latin typeface="Times New Roman"/>
              <a:cs typeface="Times New Roman"/>
            </a:endParaRPr>
          </a:p>
          <a:p>
            <a:pPr marL="363220" marR="5080" indent="-35115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❑"/>
              <a:tabLst>
                <a:tab pos="363220" algn="l"/>
              </a:tabLst>
            </a:pPr>
            <a:r>
              <a:rPr sz="2400" b="1" dirty="0">
                <a:latin typeface="Times New Roman"/>
                <a:cs typeface="Times New Roman"/>
              </a:rPr>
              <a:t>Hooks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LSM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hooks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throughout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hooks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dirty="0">
                <a:latin typeface="Times New Roman"/>
                <a:cs typeface="Times New Roman"/>
              </a:rPr>
              <a:t>placed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critical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made,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task </a:t>
            </a:r>
            <a:r>
              <a:rPr sz="2400" dirty="0">
                <a:latin typeface="Times New Roman"/>
                <a:cs typeface="Times New Roman"/>
              </a:rPr>
              <a:t>creation, and network </a:t>
            </a:r>
            <a:r>
              <a:rPr sz="2400" spc="-10" dirty="0">
                <a:latin typeface="Times New Roman"/>
                <a:cs typeface="Times New Roman"/>
              </a:rPr>
              <a:t>operations.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3020" y="201346"/>
            <a:ext cx="3876675" cy="36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/>
              <a:t>Popular LSM</a:t>
            </a:r>
            <a:r>
              <a:rPr sz="2200" spc="5" dirty="0"/>
              <a:t> </a:t>
            </a:r>
            <a:r>
              <a:rPr sz="2200" spc="-10" dirty="0"/>
              <a:t>Implementations: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270000" y="776783"/>
            <a:ext cx="9038590" cy="50673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57505" indent="-344805">
              <a:lnSpc>
                <a:spcPct val="100000"/>
              </a:lnSpc>
              <a:spcBef>
                <a:spcPts val="30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dirty="0">
                <a:latin typeface="Times New Roman"/>
                <a:cs typeface="Times New Roman"/>
              </a:rPr>
              <a:t>SELinux </a:t>
            </a:r>
            <a:r>
              <a:rPr sz="2200" b="1" spc="-10" dirty="0">
                <a:latin typeface="Times New Roman"/>
                <a:cs typeface="Times New Roman"/>
              </a:rPr>
              <a:t>(Security-</a:t>
            </a:r>
            <a:r>
              <a:rPr sz="2200" b="1" dirty="0">
                <a:latin typeface="Times New Roman"/>
                <a:cs typeface="Times New Roman"/>
              </a:rPr>
              <a:t>Enhanced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Linux)</a:t>
            </a:r>
            <a:r>
              <a:rPr sz="2200" spc="-10" dirty="0">
                <a:latin typeface="Times New Roman"/>
                <a:cs typeface="Times New Roman"/>
              </a:rPr>
              <a:t>:</a:t>
            </a:r>
            <a:endParaRPr sz="220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5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dirty="0">
                <a:latin typeface="Times New Roman"/>
                <a:cs typeface="Times New Roman"/>
              </a:rPr>
              <a:t>Developed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by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the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NSA.</a:t>
            </a:r>
            <a:endParaRPr sz="195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50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spc="-10" dirty="0">
                <a:latin typeface="Times New Roman"/>
                <a:cs typeface="Times New Roman"/>
              </a:rPr>
              <a:t>Implements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Mandatory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Access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Control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(MAC)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using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security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contexts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policies.</a:t>
            </a:r>
            <a:endParaRPr sz="195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4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dirty="0">
                <a:latin typeface="Times New Roman"/>
                <a:cs typeface="Times New Roman"/>
              </a:rPr>
              <a:t>Provides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fine-</a:t>
            </a:r>
            <a:r>
              <a:rPr sz="1950" dirty="0">
                <a:latin typeface="Times New Roman"/>
                <a:cs typeface="Times New Roman"/>
              </a:rPr>
              <a:t>grained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control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over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processes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files.</a:t>
            </a:r>
            <a:endParaRPr sz="1950" dirty="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35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AppArmor</a:t>
            </a:r>
            <a:r>
              <a:rPr sz="2200" spc="-10" dirty="0">
                <a:latin typeface="Times New Roman"/>
                <a:cs typeface="Times New Roman"/>
              </a:rPr>
              <a:t>:</a:t>
            </a:r>
            <a:endParaRPr sz="220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5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dirty="0">
                <a:latin typeface="Times New Roman"/>
                <a:cs typeface="Times New Roman"/>
              </a:rPr>
              <a:t>Developed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by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Canonical.</a:t>
            </a:r>
            <a:endParaRPr sz="195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4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spc="-10" dirty="0">
                <a:latin typeface="Times New Roman"/>
                <a:cs typeface="Times New Roman"/>
              </a:rPr>
              <a:t>Implements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MAC</a:t>
            </a:r>
            <a:r>
              <a:rPr sz="1950" spc="-4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using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path-</a:t>
            </a:r>
            <a:r>
              <a:rPr sz="1950" dirty="0">
                <a:latin typeface="Times New Roman"/>
                <a:cs typeface="Times New Roman"/>
              </a:rPr>
              <a:t>based</a:t>
            </a:r>
            <a:r>
              <a:rPr sz="1950" spc="-4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profiles.</a:t>
            </a:r>
            <a:endParaRPr sz="195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4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dirty="0">
                <a:latin typeface="Times New Roman"/>
                <a:cs typeface="Times New Roman"/>
              </a:rPr>
              <a:t>Easier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to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configure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manage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compared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to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SELinux.</a:t>
            </a:r>
            <a:endParaRPr sz="1950" dirty="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35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dirty="0">
                <a:latin typeface="Times New Roman"/>
                <a:cs typeface="Times New Roman"/>
              </a:rPr>
              <a:t>Smack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(Simplified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Mandatory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Access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Control</a:t>
            </a:r>
            <a:r>
              <a:rPr sz="2200" b="1" spc="-10" dirty="0">
                <a:latin typeface="Times New Roman"/>
                <a:cs typeface="Times New Roman"/>
              </a:rPr>
              <a:t> Kernel)</a:t>
            </a:r>
            <a:r>
              <a:rPr sz="2200" spc="-10" dirty="0">
                <a:latin typeface="Times New Roman"/>
                <a:cs typeface="Times New Roman"/>
              </a:rPr>
              <a:t>:</a:t>
            </a:r>
            <a:endParaRPr sz="220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5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dirty="0">
                <a:latin typeface="Times New Roman"/>
                <a:cs typeface="Times New Roman"/>
              </a:rPr>
              <a:t>Designed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for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simplicity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ease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of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use.</a:t>
            </a:r>
            <a:endParaRPr sz="195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4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dirty="0">
                <a:latin typeface="Times New Roman"/>
                <a:cs typeface="Times New Roman"/>
              </a:rPr>
              <a:t>Suitable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for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embedded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systems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IoT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devices.</a:t>
            </a:r>
            <a:endParaRPr sz="1950" dirty="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35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dirty="0">
                <a:latin typeface="Times New Roman"/>
                <a:cs typeface="Times New Roman"/>
              </a:rPr>
              <a:t>TOMOYO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Linux</a:t>
            </a:r>
            <a:r>
              <a:rPr sz="2200" spc="-10" dirty="0">
                <a:latin typeface="Times New Roman"/>
                <a:cs typeface="Times New Roman"/>
              </a:rPr>
              <a:t>:</a:t>
            </a:r>
            <a:endParaRPr sz="220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5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dirty="0">
                <a:latin typeface="Times New Roman"/>
                <a:cs typeface="Times New Roman"/>
              </a:rPr>
              <a:t>Focuses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on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behavior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analysis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policy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generation.</a:t>
            </a:r>
            <a:endParaRPr sz="1950" dirty="0">
              <a:latin typeface="Times New Roman"/>
              <a:cs typeface="Times New Roman"/>
            </a:endParaRPr>
          </a:p>
          <a:p>
            <a:pPr marL="723265" lvl="1" indent="-294005">
              <a:lnSpc>
                <a:spcPct val="100000"/>
              </a:lnSpc>
              <a:spcBef>
                <a:spcPts val="14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723265" algn="l"/>
              </a:tabLst>
            </a:pPr>
            <a:r>
              <a:rPr sz="1950" dirty="0">
                <a:latin typeface="Times New Roman"/>
                <a:cs typeface="Times New Roman"/>
              </a:rPr>
              <a:t>Uses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pathname-</a:t>
            </a:r>
            <a:r>
              <a:rPr sz="1950" dirty="0">
                <a:latin typeface="Times New Roman"/>
                <a:cs typeface="Times New Roman"/>
              </a:rPr>
              <a:t>based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access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control.</a:t>
            </a:r>
            <a:endParaRPr sz="1950" dirty="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35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Yama</a:t>
            </a:r>
            <a:r>
              <a:rPr sz="2200" spc="-10" dirty="0">
                <a:latin typeface="Times New Roman"/>
                <a:cs typeface="Times New Roman"/>
              </a:rPr>
              <a:t>: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1000" y="5883402"/>
            <a:ext cx="5943600" cy="65722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245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306705" algn="l"/>
              </a:tabLst>
            </a:pPr>
            <a:r>
              <a:rPr sz="1950" dirty="0">
                <a:latin typeface="Times New Roman"/>
                <a:cs typeface="Times New Roman"/>
              </a:rPr>
              <a:t>Focuses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on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restricting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process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operations,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such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as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ptrace.</a:t>
            </a:r>
            <a:endParaRPr sz="1950" dirty="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150"/>
              </a:spcBef>
              <a:buClr>
                <a:srgbClr val="FD8637"/>
              </a:buClr>
              <a:buSzPct val="79487"/>
              <a:buFont typeface="Segoe UI Symbol"/>
              <a:buChar char="□"/>
              <a:tabLst>
                <a:tab pos="306705" algn="l"/>
              </a:tabLst>
            </a:pPr>
            <a:r>
              <a:rPr sz="1950" dirty="0">
                <a:latin typeface="Times New Roman"/>
                <a:cs typeface="Times New Roman"/>
              </a:rPr>
              <a:t>Provides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additional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security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for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user-</a:t>
            </a:r>
            <a:r>
              <a:rPr sz="1950" dirty="0">
                <a:latin typeface="Times New Roman"/>
                <a:cs typeface="Times New Roman"/>
              </a:rPr>
              <a:t>space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processes.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21302" y="5868162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2235" y="934918"/>
            <a:ext cx="4757897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170" dirty="0"/>
              <a:t>Android</a:t>
            </a:r>
            <a:r>
              <a:rPr cap="small" spc="40" dirty="0"/>
              <a:t> </a:t>
            </a:r>
            <a:r>
              <a:rPr cap="small" spc="-229" dirty="0"/>
              <a:t>Architecture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55600" y="2057400"/>
            <a:ext cx="11569065" cy="273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2920" indent="-295910">
              <a:lnSpc>
                <a:spcPct val="100000"/>
              </a:lnSpc>
              <a:spcBef>
                <a:spcPts val="1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architecture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Android </a:t>
            </a:r>
            <a:r>
              <a:rPr sz="2400" dirty="0">
                <a:latin typeface="Times New Roman"/>
                <a:cs typeface="Times New Roman"/>
              </a:rPr>
              <a:t>device’s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needs.</a:t>
            </a:r>
            <a:endParaRPr sz="2400" dirty="0">
              <a:latin typeface="Times New Roman"/>
              <a:cs typeface="Times New Roman"/>
            </a:endParaRPr>
          </a:p>
          <a:p>
            <a:pPr marL="307975" marR="11303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open-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C/C++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exposed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framework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services.</a:t>
            </a:r>
            <a:endParaRPr sz="2400" dirty="0">
              <a:latin typeface="Times New Roman"/>
              <a:cs typeface="Times New Roman"/>
            </a:endParaRPr>
          </a:p>
          <a:p>
            <a:pPr marL="307975" marR="508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Among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functionality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operating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smartphones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Dalvik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Virtual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(DVM)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running an Android </a:t>
            </a:r>
            <a:r>
              <a:rPr sz="2400" spc="-10" dirty="0">
                <a:latin typeface="Times New Roman"/>
                <a:cs typeface="Times New Roman"/>
              </a:rPr>
              <a:t>application.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3020" y="227498"/>
            <a:ext cx="4906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Components</a:t>
            </a:r>
            <a:r>
              <a:rPr sz="2400" spc="-80" dirty="0"/>
              <a:t> </a:t>
            </a:r>
            <a:r>
              <a:rPr sz="2400" dirty="0"/>
              <a:t>of</a:t>
            </a:r>
            <a:r>
              <a:rPr sz="2400" spc="-70" dirty="0"/>
              <a:t> </a:t>
            </a:r>
            <a:r>
              <a:rPr sz="2400" dirty="0"/>
              <a:t>Android</a:t>
            </a:r>
            <a:r>
              <a:rPr sz="2400" spc="-75" dirty="0"/>
              <a:t> </a:t>
            </a:r>
            <a:r>
              <a:rPr sz="2400" spc="-10" dirty="0"/>
              <a:t>Architecture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51716" y="606756"/>
            <a:ext cx="8305165" cy="23228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59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architecture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following:-</a:t>
            </a:r>
            <a:endParaRPr sz="2400" dirty="0">
              <a:latin typeface="Times New Roman"/>
              <a:cs typeface="Times New Roman"/>
            </a:endParaRPr>
          </a:p>
          <a:p>
            <a:pPr marL="673735" lvl="1" indent="-243204">
              <a:lnSpc>
                <a:spcPct val="100000"/>
              </a:lnSpc>
              <a:spcBef>
                <a:spcPts val="434"/>
              </a:spcBef>
              <a:buClr>
                <a:srgbClr val="FD8637"/>
              </a:buClr>
              <a:buSzPct val="78571"/>
              <a:buFont typeface="Segoe UI Symbol"/>
              <a:buChar char="▪"/>
              <a:tabLst>
                <a:tab pos="673735" algn="l"/>
              </a:tabLst>
            </a:pPr>
            <a:r>
              <a:rPr sz="2100" spc="-10" dirty="0">
                <a:latin typeface="Times New Roman"/>
                <a:cs typeface="Times New Roman"/>
              </a:rPr>
              <a:t>Applications</a:t>
            </a:r>
            <a:endParaRPr sz="2100" dirty="0">
              <a:latin typeface="Times New Roman"/>
              <a:cs typeface="Times New Roman"/>
            </a:endParaRPr>
          </a:p>
          <a:p>
            <a:pPr marL="673735" lvl="1" indent="-243204">
              <a:lnSpc>
                <a:spcPct val="100000"/>
              </a:lnSpc>
              <a:spcBef>
                <a:spcPts val="420"/>
              </a:spcBef>
              <a:buClr>
                <a:srgbClr val="FD8637"/>
              </a:buClr>
              <a:buSzPct val="78571"/>
              <a:buFont typeface="Segoe UI Symbol"/>
              <a:buChar char="▪"/>
              <a:tabLst>
                <a:tab pos="673735" algn="l"/>
              </a:tabLst>
            </a:pPr>
            <a:r>
              <a:rPr sz="2100" dirty="0">
                <a:latin typeface="Times New Roman"/>
                <a:cs typeface="Times New Roman"/>
              </a:rPr>
              <a:t>Application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Framework</a:t>
            </a:r>
            <a:endParaRPr sz="2100" dirty="0">
              <a:latin typeface="Times New Roman"/>
              <a:cs typeface="Times New Roman"/>
            </a:endParaRPr>
          </a:p>
          <a:p>
            <a:pPr marL="673735" lvl="1" indent="-243204">
              <a:lnSpc>
                <a:spcPct val="100000"/>
              </a:lnSpc>
              <a:spcBef>
                <a:spcPts val="420"/>
              </a:spcBef>
              <a:buClr>
                <a:srgbClr val="FD8637"/>
              </a:buClr>
              <a:buSzPct val="78571"/>
              <a:buFont typeface="Segoe UI Symbol"/>
              <a:buChar char="▪"/>
              <a:tabLst>
                <a:tab pos="673735" algn="l"/>
              </a:tabLst>
            </a:pPr>
            <a:r>
              <a:rPr sz="2100" dirty="0">
                <a:latin typeface="Times New Roman"/>
                <a:cs typeface="Times New Roman"/>
              </a:rPr>
              <a:t>Android </a:t>
            </a:r>
            <a:r>
              <a:rPr sz="2100" spc="-10" dirty="0">
                <a:latin typeface="Times New Roman"/>
                <a:cs typeface="Times New Roman"/>
              </a:rPr>
              <a:t>Runtime</a:t>
            </a:r>
            <a:endParaRPr sz="2100" dirty="0">
              <a:latin typeface="Times New Roman"/>
              <a:cs typeface="Times New Roman"/>
            </a:endParaRPr>
          </a:p>
          <a:p>
            <a:pPr marL="673735" lvl="1" indent="-243204">
              <a:lnSpc>
                <a:spcPct val="100000"/>
              </a:lnSpc>
              <a:spcBef>
                <a:spcPts val="420"/>
              </a:spcBef>
              <a:buClr>
                <a:srgbClr val="FD8637"/>
              </a:buClr>
              <a:buSzPct val="78571"/>
              <a:buFont typeface="Segoe UI Symbol"/>
              <a:buChar char="▪"/>
              <a:tabLst>
                <a:tab pos="673735" algn="l"/>
              </a:tabLst>
            </a:pPr>
            <a:r>
              <a:rPr sz="2100" dirty="0">
                <a:latin typeface="Times New Roman"/>
                <a:cs typeface="Times New Roman"/>
              </a:rPr>
              <a:t>Platform</a:t>
            </a:r>
            <a:r>
              <a:rPr sz="2100" spc="-114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Libraries</a:t>
            </a:r>
            <a:endParaRPr sz="2100" dirty="0">
              <a:latin typeface="Times New Roman"/>
              <a:cs typeface="Times New Roman"/>
            </a:endParaRPr>
          </a:p>
          <a:p>
            <a:pPr marL="673735" lvl="1" indent="-243204">
              <a:lnSpc>
                <a:spcPct val="100000"/>
              </a:lnSpc>
              <a:spcBef>
                <a:spcPts val="420"/>
              </a:spcBef>
              <a:buClr>
                <a:srgbClr val="FD8637"/>
              </a:buClr>
              <a:buSzPct val="78571"/>
              <a:buFont typeface="Segoe UI Symbol"/>
              <a:buChar char="▪"/>
              <a:tabLst>
                <a:tab pos="673735" algn="l"/>
              </a:tabLst>
            </a:pPr>
            <a:r>
              <a:rPr sz="2100" dirty="0">
                <a:latin typeface="Times New Roman"/>
                <a:cs typeface="Times New Roman"/>
              </a:rPr>
              <a:t>Linux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Kernel</a:t>
            </a:r>
            <a:endParaRPr sz="21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3433" y="1484936"/>
            <a:ext cx="5506324" cy="50158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834" y="158979"/>
            <a:ext cx="11570970" cy="558355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14325" indent="-28194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1432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Applications</a:t>
            </a:r>
            <a:endParaRPr sz="2200">
              <a:latin typeface="Times New Roman"/>
              <a:cs typeface="Times New Roman"/>
            </a:endParaRPr>
          </a:p>
          <a:p>
            <a:pPr marL="306705" lvl="1" indent="-294005">
              <a:lnSpc>
                <a:spcPct val="100000"/>
              </a:lnSpc>
              <a:spcBef>
                <a:spcPts val="36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Applications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top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layer 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android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architecture.</a:t>
            </a:r>
            <a:endParaRPr sz="2200">
              <a:latin typeface="Times New Roman"/>
              <a:cs typeface="Times New Roman"/>
            </a:endParaRPr>
          </a:p>
          <a:p>
            <a:pPr marL="306705" marR="212725" lvl="1" indent="-294640">
              <a:lnSpc>
                <a:spcPts val="2400"/>
              </a:lnSpc>
              <a:spcBef>
                <a:spcPts val="63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pre-installed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 like home, contacts,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camera,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gallery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etc and third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party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applications </a:t>
            </a:r>
            <a:r>
              <a:rPr sz="2200" dirty="0">
                <a:latin typeface="Times New Roman"/>
                <a:cs typeface="Times New Roman"/>
              </a:rPr>
              <a:t>downloaded from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play store like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chat applications, games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etc.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 installed 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layer only.</a:t>
            </a:r>
            <a:endParaRPr sz="2200">
              <a:latin typeface="Times New Roman"/>
              <a:cs typeface="Times New Roman"/>
            </a:endParaRPr>
          </a:p>
          <a:p>
            <a:pPr marL="306705" marR="886460" lvl="1" indent="-294640">
              <a:lnSpc>
                <a:spcPts val="2400"/>
              </a:lnSpc>
              <a:spcBef>
                <a:spcPts val="59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It runs within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Android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 with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help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classes 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services provided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framework.</a:t>
            </a:r>
            <a:endParaRPr sz="2200">
              <a:latin typeface="Times New Roman"/>
              <a:cs typeface="Times New Roman"/>
            </a:endParaRPr>
          </a:p>
          <a:p>
            <a:pPr marL="314325" indent="-281940">
              <a:lnSpc>
                <a:spcPct val="100000"/>
              </a:lnSpc>
              <a:spcBef>
                <a:spcPts val="315"/>
              </a:spcBef>
              <a:buAutoNum type="arabicPeriod" startAt="2"/>
              <a:tabLst>
                <a:tab pos="314325" algn="l"/>
              </a:tabLst>
            </a:pPr>
            <a:r>
              <a:rPr sz="2200" b="1" dirty="0">
                <a:latin typeface="Times New Roman"/>
                <a:cs typeface="Times New Roman"/>
              </a:rPr>
              <a:t>Application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framework</a:t>
            </a:r>
            <a:endParaRPr sz="2200">
              <a:latin typeface="Times New Roman"/>
              <a:cs typeface="Times New Roman"/>
            </a:endParaRPr>
          </a:p>
          <a:p>
            <a:pPr marL="306705" marR="489584" lvl="1" indent="-294640">
              <a:lnSpc>
                <a:spcPts val="2400"/>
              </a:lnSpc>
              <a:spcBef>
                <a:spcPts val="64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Framework provides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several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important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 to create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 </a:t>
            </a:r>
            <a:r>
              <a:rPr sz="2200" spc="-10" dirty="0">
                <a:latin typeface="Times New Roman"/>
                <a:cs typeface="Times New Roman"/>
              </a:rPr>
              <a:t>Android application.</a:t>
            </a:r>
            <a:endParaRPr sz="2200">
              <a:latin typeface="Times New Roman"/>
              <a:cs typeface="Times New Roman"/>
            </a:endParaRPr>
          </a:p>
          <a:p>
            <a:pPr marL="306705" marR="186690" lvl="1" indent="-294640">
              <a:lnSpc>
                <a:spcPts val="2400"/>
              </a:lnSpc>
              <a:spcBef>
                <a:spcPts val="59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 a generic abstraction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hardware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 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helps 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managing the user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interface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resources.</a:t>
            </a:r>
            <a:endParaRPr sz="2200">
              <a:latin typeface="Times New Roman"/>
              <a:cs typeface="Times New Roman"/>
            </a:endParaRPr>
          </a:p>
          <a:p>
            <a:pPr marL="306705" marR="82550" lvl="1" indent="-294640">
              <a:lnSpc>
                <a:spcPts val="2400"/>
              </a:lnSpc>
              <a:spcBef>
                <a:spcPts val="59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Generally,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 provides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services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help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 can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 particular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 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make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helpful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creation.</a:t>
            </a:r>
            <a:endParaRPr sz="2200">
              <a:latin typeface="Times New Roman"/>
              <a:cs typeface="Times New Roman"/>
            </a:endParaRPr>
          </a:p>
          <a:p>
            <a:pPr marL="306705" marR="5080" lvl="1" indent="-294640">
              <a:lnSpc>
                <a:spcPts val="2400"/>
              </a:lnSpc>
              <a:spcBef>
                <a:spcPts val="59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06705" algn="l"/>
              </a:tabLst>
            </a:pPr>
            <a:r>
              <a:rPr sz="2200" dirty="0">
                <a:latin typeface="Times New Roman"/>
                <a:cs typeface="Times New Roman"/>
              </a:rPr>
              <a:t>It includes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 types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activity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manager,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notification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manager,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view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package </a:t>
            </a:r>
            <a:r>
              <a:rPr sz="2200" dirty="0">
                <a:latin typeface="Times New Roman"/>
                <a:cs typeface="Times New Roman"/>
              </a:rPr>
              <a:t>manager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etc.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 are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helpful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our application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according 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prerequisite.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716" y="151298"/>
            <a:ext cx="11603990" cy="4582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8455" indent="-304800">
              <a:lnSpc>
                <a:spcPct val="100000"/>
              </a:lnSpc>
              <a:spcBef>
                <a:spcPts val="700"/>
              </a:spcBef>
              <a:buAutoNum type="arabicPeriod" startAt="3"/>
              <a:tabLst>
                <a:tab pos="338455" algn="l"/>
              </a:tabLst>
            </a:pPr>
            <a:r>
              <a:rPr sz="2400" b="1" dirty="0">
                <a:latin typeface="Times New Roman"/>
                <a:cs typeface="Times New Roman"/>
              </a:rPr>
              <a:t>Application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runtime</a:t>
            </a:r>
            <a:endParaRPr sz="2400">
              <a:latin typeface="Times New Roman"/>
              <a:cs typeface="Times New Roman"/>
            </a:endParaRPr>
          </a:p>
          <a:p>
            <a:pPr marL="307975" lvl="1" indent="-29527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Android.</a:t>
            </a:r>
            <a:endParaRPr sz="2400">
              <a:latin typeface="Times New Roman"/>
              <a:cs typeface="Times New Roman"/>
            </a:endParaRPr>
          </a:p>
          <a:p>
            <a:pPr marL="307975" lvl="1" indent="-29527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Dalvik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virtual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machine(DVM).</a:t>
            </a:r>
            <a:endParaRPr sz="2400">
              <a:latin typeface="Times New Roman"/>
              <a:cs typeface="Times New Roman"/>
            </a:endParaRPr>
          </a:p>
          <a:p>
            <a:pPr marL="307975" marR="168910" lvl="1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Mainly,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framework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libraries.</a:t>
            </a:r>
            <a:endParaRPr sz="2400">
              <a:latin typeface="Times New Roman"/>
              <a:cs typeface="Times New Roman"/>
            </a:endParaRPr>
          </a:p>
          <a:p>
            <a:pPr marL="307975" marR="5080" lvl="1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Virtual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(JVM),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Dalvik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Virtual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Machine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(DVM)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register-</a:t>
            </a:r>
            <a:r>
              <a:rPr sz="2400" spc="-10" dirty="0">
                <a:latin typeface="Times New Roman"/>
                <a:cs typeface="Times New Roman"/>
              </a:rPr>
              <a:t>based </a:t>
            </a:r>
            <a:r>
              <a:rPr sz="2400" dirty="0">
                <a:latin typeface="Times New Roman"/>
                <a:cs typeface="Times New Roman"/>
              </a:rPr>
              <a:t>virtual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specially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efficiently.</a:t>
            </a:r>
            <a:endParaRPr sz="2400">
              <a:latin typeface="Times New Roman"/>
              <a:cs typeface="Times New Roman"/>
            </a:endParaRPr>
          </a:p>
          <a:p>
            <a:pPr marL="307975" lvl="1" indent="-295275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threading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low-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10" dirty="0">
                <a:latin typeface="Times New Roman"/>
                <a:cs typeface="Times New Roman"/>
              </a:rPr>
              <a:t> management.</a:t>
            </a:r>
            <a:endParaRPr sz="2400">
              <a:latin typeface="Times New Roman"/>
              <a:cs typeface="Times New Roman"/>
            </a:endParaRPr>
          </a:p>
          <a:p>
            <a:pPr marL="307975" marR="198120" lvl="1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dirty="0">
                <a:latin typeface="Times New Roman"/>
                <a:cs typeface="Times New Roman"/>
              </a:rPr>
              <a:t>Kotlin programming </a:t>
            </a:r>
            <a:r>
              <a:rPr sz="2400" spc="-10" dirty="0">
                <a:latin typeface="Times New Roman"/>
                <a:cs typeface="Times New Roman"/>
              </a:rPr>
              <a:t>languages.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278" y="151298"/>
            <a:ext cx="11702415" cy="53898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latin typeface="Times New Roman"/>
                <a:cs typeface="Times New Roman"/>
              </a:rPr>
              <a:t>4. Platform </a:t>
            </a:r>
            <a:r>
              <a:rPr sz="2400" b="1" spc="-10" dirty="0">
                <a:latin typeface="Times New Roman"/>
                <a:cs typeface="Times New Roman"/>
              </a:rPr>
              <a:t>libraries</a:t>
            </a:r>
            <a:endParaRPr sz="2400">
              <a:latin typeface="Times New Roman"/>
              <a:cs typeface="Times New Roman"/>
            </a:endParaRPr>
          </a:p>
          <a:p>
            <a:pPr marL="307975" marR="5080" indent="-295910">
              <a:lnSpc>
                <a:spcPct val="100000"/>
              </a:lnSpc>
              <a:spcBef>
                <a:spcPts val="600"/>
              </a:spcBef>
              <a:tabLst>
                <a:tab pos="307975" algn="l"/>
              </a:tabLst>
            </a:pPr>
            <a:r>
              <a:rPr sz="1650" spc="-480" dirty="0">
                <a:solidFill>
                  <a:srgbClr val="FD8637"/>
                </a:solidFill>
                <a:latin typeface="Segoe UI Symbol"/>
                <a:cs typeface="Segoe UI Symbol"/>
              </a:rPr>
              <a:t>□</a:t>
            </a:r>
            <a:r>
              <a:rPr sz="1650" dirty="0">
                <a:solidFill>
                  <a:srgbClr val="FD8637"/>
                </a:solidFill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C/C++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5" dirty="0">
                <a:latin typeface="Times New Roman"/>
                <a:cs typeface="Times New Roman"/>
              </a:rPr>
              <a:t> as </a:t>
            </a:r>
            <a:r>
              <a:rPr sz="2400" dirty="0">
                <a:latin typeface="Times New Roman"/>
                <a:cs typeface="Times New Roman"/>
              </a:rPr>
              <a:t>Media,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Graphics,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Surface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Manager,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OpenGL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android development.</a:t>
            </a:r>
            <a:endParaRPr sz="240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Media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record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audio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video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formats.</a:t>
            </a:r>
            <a:endParaRPr sz="240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Surface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manager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display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subsystem.</a:t>
            </a:r>
            <a:endParaRPr sz="2400">
              <a:latin typeface="Times New Roman"/>
              <a:cs typeface="Times New Roman"/>
            </a:endParaRPr>
          </a:p>
          <a:p>
            <a:pPr marL="307975" marR="135255" indent="-25019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SGL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OpenGL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cross-language,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cross-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(API)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graphics.</a:t>
            </a:r>
            <a:endParaRPr sz="2400">
              <a:latin typeface="Times New Roman"/>
              <a:cs typeface="Times New Roman"/>
            </a:endParaRPr>
          </a:p>
          <a:p>
            <a:pPr marL="307975" indent="-249554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SQLite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b="1" dirty="0">
                <a:latin typeface="Times New Roman"/>
                <a:cs typeface="Times New Roman"/>
              </a:rPr>
              <a:t>FreeType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support.</a:t>
            </a:r>
            <a:endParaRPr sz="2400">
              <a:latin typeface="Times New Roman"/>
              <a:cs typeface="Times New Roman"/>
            </a:endParaRPr>
          </a:p>
          <a:p>
            <a:pPr marL="307975" marR="124460" indent="-25019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Web-Kit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browser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functionality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display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web </a:t>
            </a:r>
            <a:r>
              <a:rPr sz="2400" dirty="0">
                <a:latin typeface="Times New Roman"/>
                <a:cs typeface="Times New Roman"/>
              </a:rPr>
              <a:t>content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simplify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-10" dirty="0">
                <a:latin typeface="Times New Roman"/>
                <a:cs typeface="Times New Roman"/>
              </a:rPr>
              <a:t> loading.</a:t>
            </a:r>
            <a:endParaRPr sz="2400">
              <a:latin typeface="Times New Roman"/>
              <a:cs typeface="Times New Roman"/>
            </a:endParaRPr>
          </a:p>
          <a:p>
            <a:pPr marL="307975" marR="68580" indent="-25019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▪"/>
              <a:tabLst>
                <a:tab pos="307975" algn="l"/>
              </a:tabLst>
            </a:pPr>
            <a:r>
              <a:rPr sz="2400" b="1" dirty="0">
                <a:latin typeface="Times New Roman"/>
                <a:cs typeface="Times New Roman"/>
              </a:rPr>
              <a:t>SSL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(Secure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Sockets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Layer)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technology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encrypted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browser.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977" y="152212"/>
            <a:ext cx="11076940" cy="55245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65125" indent="-281940">
              <a:lnSpc>
                <a:spcPct val="100000"/>
              </a:lnSpc>
              <a:spcBef>
                <a:spcPts val="720"/>
              </a:spcBef>
              <a:buAutoNum type="arabicPeriod" startAt="5"/>
              <a:tabLst>
                <a:tab pos="365125" algn="l"/>
              </a:tabLst>
            </a:pPr>
            <a:r>
              <a:rPr sz="2200" b="1" dirty="0">
                <a:latin typeface="Times New Roman"/>
                <a:cs typeface="Times New Roman"/>
              </a:rPr>
              <a:t>Linux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Kernel</a:t>
            </a:r>
            <a:endParaRPr sz="2200">
              <a:latin typeface="Times New Roman"/>
              <a:cs typeface="Times New Roman"/>
            </a:endParaRPr>
          </a:p>
          <a:p>
            <a:pPr marL="357505" lvl="1" indent="-294005">
              <a:lnSpc>
                <a:spcPct val="100000"/>
              </a:lnSpc>
              <a:spcBef>
                <a:spcPts val="62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57505" algn="l"/>
              </a:tabLst>
            </a:pPr>
            <a:r>
              <a:rPr sz="2200" dirty="0">
                <a:latin typeface="Times New Roman"/>
                <a:cs typeface="Times New Roman"/>
              </a:rPr>
              <a:t>Linux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heart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android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architecture.</a:t>
            </a:r>
            <a:endParaRPr sz="2200">
              <a:latin typeface="Times New Roman"/>
              <a:cs typeface="Times New Roman"/>
            </a:endParaRPr>
          </a:p>
          <a:p>
            <a:pPr marL="357505" marR="163195" lvl="1" indent="-294640">
              <a:lnSpc>
                <a:spcPct val="100899"/>
              </a:lnSpc>
              <a:spcBef>
                <a:spcPts val="60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5750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manages all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available drivers such as display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 camera drivers,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Bluetooth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drivers, </a:t>
            </a:r>
            <a:r>
              <a:rPr sz="2200" dirty="0">
                <a:latin typeface="Times New Roman"/>
                <a:cs typeface="Times New Roman"/>
              </a:rPr>
              <a:t>audio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 drivers,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etc.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 are required during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runtime.</a:t>
            </a:r>
            <a:endParaRPr sz="2200">
              <a:latin typeface="Times New Roman"/>
              <a:cs typeface="Times New Roman"/>
            </a:endParaRPr>
          </a:p>
          <a:p>
            <a:pPr marL="83185" marR="3404235" lvl="1" indent="-20320">
              <a:lnSpc>
                <a:spcPct val="123600"/>
              </a:lnSpc>
              <a:buClr>
                <a:srgbClr val="FD8637"/>
              </a:buClr>
              <a:buSzPct val="70454"/>
              <a:buFont typeface="Segoe UI Symbol"/>
              <a:buChar char="□"/>
              <a:tabLst>
                <a:tab pos="83185" algn="l"/>
                <a:tab pos="357505" algn="l"/>
              </a:tabLst>
            </a:pPr>
            <a:r>
              <a:rPr sz="2200" dirty="0">
                <a:latin typeface="Times New Roman"/>
                <a:cs typeface="Times New Roman"/>
              </a:rPr>
              <a:t>	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responsible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management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memory, power, devices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etc.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features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Linux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are:</a:t>
            </a:r>
            <a:endParaRPr sz="220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625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dirty="0">
                <a:latin typeface="Times New Roman"/>
                <a:cs typeface="Times New Roman"/>
              </a:rPr>
              <a:t>Security: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Linux kernel handles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security between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 the </a:t>
            </a:r>
            <a:r>
              <a:rPr sz="2200" spc="-10" dirty="0"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  <a:p>
            <a:pPr marL="357505" marR="99695" indent="-3454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dirty="0">
                <a:latin typeface="Times New Roman"/>
                <a:cs typeface="Times New Roman"/>
              </a:rPr>
              <a:t>Memory Management: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efficiently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memory management thereby providing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freedom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 develop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our </a:t>
            </a:r>
            <a:r>
              <a:rPr sz="2200" spc="-10" dirty="0">
                <a:latin typeface="Times New Roman"/>
                <a:cs typeface="Times New Roman"/>
              </a:rPr>
              <a:t>apps.</a:t>
            </a:r>
            <a:endParaRPr sz="2200">
              <a:latin typeface="Times New Roman"/>
              <a:cs typeface="Times New Roman"/>
            </a:endParaRPr>
          </a:p>
          <a:p>
            <a:pPr marL="357505" marR="5080" indent="-3454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dirty="0">
                <a:latin typeface="Times New Roman"/>
                <a:cs typeface="Times New Roman"/>
              </a:rPr>
              <a:t>Process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Management: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well,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allocates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whenever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them.</a:t>
            </a:r>
            <a:endParaRPr sz="2200">
              <a:latin typeface="Times New Roman"/>
              <a:cs typeface="Times New Roman"/>
            </a:endParaRPr>
          </a:p>
          <a:p>
            <a:pPr marL="357505" indent="-344805">
              <a:lnSpc>
                <a:spcPct val="100000"/>
              </a:lnSpc>
              <a:spcBef>
                <a:spcPts val="62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dirty="0">
                <a:latin typeface="Times New Roman"/>
                <a:cs typeface="Times New Roman"/>
              </a:rPr>
              <a:t>Network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Stack: </a:t>
            </a:r>
            <a:r>
              <a:rPr sz="2200" dirty="0">
                <a:latin typeface="Times New Roman"/>
                <a:cs typeface="Times New Roman"/>
              </a:rPr>
              <a:t>It effectively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network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communication.</a:t>
            </a:r>
            <a:endParaRPr sz="2200">
              <a:latin typeface="Times New Roman"/>
              <a:cs typeface="Times New Roman"/>
            </a:endParaRPr>
          </a:p>
          <a:p>
            <a:pPr marL="357505" marR="642620" indent="-345440">
              <a:lnSpc>
                <a:spcPct val="100899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❑"/>
              <a:tabLst>
                <a:tab pos="357505" algn="l"/>
              </a:tabLst>
            </a:pPr>
            <a:r>
              <a:rPr sz="2200" b="1" dirty="0">
                <a:latin typeface="Times New Roman"/>
                <a:cs typeface="Times New Roman"/>
              </a:rPr>
              <a:t>Driver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Model: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 works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properly on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10" dirty="0">
                <a:latin typeface="Times New Roman"/>
                <a:cs typeface="Times New Roman"/>
              </a:rPr>
              <a:t>hardware </a:t>
            </a:r>
            <a:r>
              <a:rPr sz="2200" dirty="0">
                <a:latin typeface="Times New Roman"/>
                <a:cs typeface="Times New Roman"/>
              </a:rPr>
              <a:t>manufacturers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responsible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Linux</a:t>
            </a:r>
            <a:r>
              <a:rPr sz="2200" spc="-10" dirty="0">
                <a:latin typeface="Times New Roman"/>
                <a:cs typeface="Times New Roman"/>
              </a:rPr>
              <a:t> build.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457" y="262554"/>
            <a:ext cx="4914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155" dirty="0"/>
              <a:t>macOS</a:t>
            </a:r>
            <a:r>
              <a:rPr cap="small" dirty="0"/>
              <a:t> </a:t>
            </a:r>
            <a:r>
              <a:rPr cap="small" spc="-200" dirty="0"/>
              <a:t>security</a:t>
            </a:r>
            <a:r>
              <a:rPr cap="small" spc="110" dirty="0"/>
              <a:t> </a:t>
            </a:r>
            <a:r>
              <a:rPr cap="small" spc="-229" dirty="0"/>
              <a:t>architecture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2122" y="1295400"/>
            <a:ext cx="11316970" cy="45059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7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macOS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architecture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discreet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levels.</a:t>
            </a:r>
            <a:endParaRPr sz="2400" dirty="0">
              <a:latin typeface="Times New Roman"/>
              <a:cs typeface="Times New Roman"/>
            </a:endParaRPr>
          </a:p>
          <a:p>
            <a:pPr marL="307975" marR="70485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bottom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stack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Berkeley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10" dirty="0">
                <a:latin typeface="Times New Roman"/>
                <a:cs typeface="Times New Roman"/>
              </a:rPr>
              <a:t> (BSD)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Mach.</a:t>
            </a:r>
            <a:endParaRPr sz="2400" dirty="0">
              <a:latin typeface="Times New Roman"/>
              <a:cs typeface="Times New Roman"/>
            </a:endParaRPr>
          </a:p>
          <a:p>
            <a:pPr marL="307975" marR="28448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BSD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 </a:t>
            </a:r>
            <a:r>
              <a:rPr sz="2400" dirty="0">
                <a:latin typeface="Times New Roman"/>
                <a:cs typeface="Times New Roman"/>
              </a:rPr>
              <a:t>services,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groups.</a:t>
            </a:r>
            <a:endParaRPr sz="2400" dirty="0">
              <a:latin typeface="Times New Roman"/>
              <a:cs typeface="Times New Roman"/>
            </a:endParaRPr>
          </a:p>
          <a:p>
            <a:pPr marL="307975" marR="508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middle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macOS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architecture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CDSA.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Although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its </a:t>
            </a:r>
            <a:r>
              <a:rPr sz="2400" dirty="0">
                <a:latin typeface="Times New Roman"/>
                <a:cs typeface="Times New Roman"/>
              </a:rPr>
              <a:t>version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CDSA,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standard.</a:t>
            </a:r>
            <a:endParaRPr sz="2400" dirty="0">
              <a:latin typeface="Times New Roman"/>
              <a:cs typeface="Times New Roman"/>
            </a:endParaRPr>
          </a:p>
          <a:p>
            <a:pPr marL="307975" marR="763270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CDSA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Manager (CSSM).</a:t>
            </a:r>
            <a:endParaRPr sz="2400" dirty="0">
              <a:latin typeface="Times New Roman"/>
              <a:cs typeface="Times New Roman"/>
            </a:endParaRPr>
          </a:p>
          <a:p>
            <a:pPr marL="307975" marR="358775" indent="-295910">
              <a:lnSpc>
                <a:spcPct val="100000"/>
              </a:lnSpc>
              <a:spcBef>
                <a:spcPts val="600"/>
              </a:spcBef>
              <a:buClr>
                <a:srgbClr val="FD8637"/>
              </a:buClr>
              <a:buSzPct val="68750"/>
              <a:buFont typeface="Segoe UI Symbol"/>
              <a:buChar char="□"/>
              <a:tabLst>
                <a:tab pos="3079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architecture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macOS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Services.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This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macOS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185" y="142851"/>
            <a:ext cx="9787005" cy="65722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3020" y="174279"/>
            <a:ext cx="10189845" cy="36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0" dirty="0">
                <a:latin typeface="Times New Roman"/>
                <a:cs typeface="Times New Roman"/>
              </a:rPr>
              <a:t>Below</a:t>
            </a:r>
            <a:r>
              <a:rPr sz="2200" b="0" spc="-1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is</a:t>
            </a:r>
            <a:r>
              <a:rPr sz="2200" b="0" spc="-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an</a:t>
            </a:r>
            <a:r>
              <a:rPr sz="2200" b="0" spc="-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overview</a:t>
            </a:r>
            <a:r>
              <a:rPr sz="2200" b="0" spc="-1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of the</a:t>
            </a:r>
            <a:r>
              <a:rPr sz="2200" b="0" spc="-1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key components</a:t>
            </a:r>
            <a:r>
              <a:rPr sz="2200" b="0" spc="-1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and features</a:t>
            </a:r>
            <a:r>
              <a:rPr sz="2200" b="0" spc="-1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of macOS</a:t>
            </a:r>
            <a:r>
              <a:rPr sz="2200" b="0" spc="-1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security </a:t>
            </a:r>
            <a:r>
              <a:rPr sz="2200" b="0" spc="-10" dirty="0">
                <a:latin typeface="Times New Roman"/>
                <a:cs typeface="Times New Roman"/>
              </a:rPr>
              <a:t>architecture: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170" y="521142"/>
            <a:ext cx="11496040" cy="5304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20040" indent="-28194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320040" algn="l"/>
              </a:tabLst>
            </a:pPr>
            <a:r>
              <a:rPr sz="2200" dirty="0">
                <a:latin typeface="Times New Roman"/>
                <a:cs typeface="Times New Roman"/>
              </a:rPr>
              <a:t>Hardware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Security</a:t>
            </a:r>
            <a:endParaRPr sz="2200">
              <a:latin typeface="Times New Roman"/>
              <a:cs typeface="Times New Roman"/>
            </a:endParaRPr>
          </a:p>
          <a:p>
            <a:pPr marL="312420" marR="456565" lvl="1" indent="-300355">
              <a:lnSpc>
                <a:spcPts val="2130"/>
              </a:lnSpc>
              <a:spcBef>
                <a:spcPts val="58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Apple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Silicon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(M1, M2, etc.)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Apple's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custom-designed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processors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dedicated </a:t>
            </a:r>
            <a:r>
              <a:rPr sz="2200" spc="-10" dirty="0">
                <a:latin typeface="Times New Roman"/>
                <a:cs typeface="Times New Roman"/>
              </a:rPr>
              <a:t>security </a:t>
            </a:r>
            <a:r>
              <a:rPr sz="2200" dirty="0">
                <a:latin typeface="Times New Roman"/>
                <a:cs typeface="Times New Roman"/>
              </a:rPr>
              <a:t>features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 as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Enclave, which 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coprocessor 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 additional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layer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sensitive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  <a:p>
            <a:pPr marL="312420" marR="462280" lvl="1" indent="-300355">
              <a:lnSpc>
                <a:spcPts val="2130"/>
              </a:lnSpc>
              <a:spcBef>
                <a:spcPts val="60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Secure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Boot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 only trusted software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loads during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startup process.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verifies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integrity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bootloader and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kernel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execution.</a:t>
            </a:r>
            <a:endParaRPr sz="2200">
              <a:latin typeface="Times New Roman"/>
              <a:cs typeface="Times New Roman"/>
            </a:endParaRPr>
          </a:p>
          <a:p>
            <a:pPr marL="312420" marR="371475" lvl="1" indent="-300355">
              <a:lnSpc>
                <a:spcPts val="2130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Touch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ID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Face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ID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Biometric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authentication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integrated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Apple's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hardware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 </a:t>
            </a:r>
            <a:r>
              <a:rPr sz="2200" dirty="0">
                <a:latin typeface="Times New Roman"/>
                <a:cs typeface="Times New Roman"/>
              </a:rPr>
              <a:t>secure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 convenient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authentication.</a:t>
            </a:r>
            <a:endParaRPr sz="2200">
              <a:latin typeface="Times New Roman"/>
              <a:cs typeface="Times New Roman"/>
            </a:endParaRPr>
          </a:p>
          <a:p>
            <a:pPr marL="320040" indent="-281940">
              <a:lnSpc>
                <a:spcPct val="100000"/>
              </a:lnSpc>
              <a:spcBef>
                <a:spcPts val="110"/>
              </a:spcBef>
              <a:buAutoNum type="arabicPeriod" startAt="2"/>
              <a:tabLst>
                <a:tab pos="320040" algn="l"/>
              </a:tabLst>
            </a:pPr>
            <a:r>
              <a:rPr sz="2200" b="1" dirty="0">
                <a:latin typeface="Times New Roman"/>
                <a:cs typeface="Times New Roman"/>
              </a:rPr>
              <a:t>System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Integrity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Protection</a:t>
            </a:r>
            <a:r>
              <a:rPr sz="2200" b="1" spc="-10" dirty="0">
                <a:latin typeface="Times New Roman"/>
                <a:cs typeface="Times New Roman"/>
              </a:rPr>
              <a:t> (SIP)</a:t>
            </a:r>
            <a:endParaRPr sz="2200">
              <a:latin typeface="Times New Roman"/>
              <a:cs typeface="Times New Roman"/>
            </a:endParaRPr>
          </a:p>
          <a:p>
            <a:pPr marL="312420" marR="175260" lvl="1" indent="-300355" algn="just">
              <a:lnSpc>
                <a:spcPts val="2130"/>
              </a:lnSpc>
              <a:spcBef>
                <a:spcPts val="58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SIP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known as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"rootless,"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SIP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restricts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 account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even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protected parts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system. This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prevents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malicious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from </a:t>
            </a:r>
            <a:r>
              <a:rPr sz="2200" dirty="0">
                <a:latin typeface="Times New Roman"/>
                <a:cs typeface="Times New Roman"/>
              </a:rPr>
              <a:t>modifying critical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directories.</a:t>
            </a:r>
            <a:endParaRPr sz="2200">
              <a:latin typeface="Times New Roman"/>
              <a:cs typeface="Times New Roman"/>
            </a:endParaRPr>
          </a:p>
          <a:p>
            <a:pPr marL="312420" marR="208915" lvl="1" indent="-300355" algn="just">
              <a:lnSpc>
                <a:spcPts val="2130"/>
              </a:lnSpc>
              <a:spcBef>
                <a:spcPts val="60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Protected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Directories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SIP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protects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directories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/System,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/usr,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/bin,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/sbin,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from </a:t>
            </a:r>
            <a:r>
              <a:rPr sz="2200" dirty="0">
                <a:latin typeface="Times New Roman"/>
                <a:cs typeface="Times New Roman"/>
              </a:rPr>
              <a:t>being modified, even by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root </a:t>
            </a:r>
            <a:r>
              <a:rPr sz="2200" spc="-10" dirty="0">
                <a:latin typeface="Times New Roman"/>
                <a:cs typeface="Times New Roman"/>
              </a:rPr>
              <a:t>user.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Times New Roman"/>
                <a:cs typeface="Times New Roman"/>
              </a:rPr>
              <a:t>3. File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System </a:t>
            </a:r>
            <a:r>
              <a:rPr sz="2200" b="1" spc="-10" dirty="0">
                <a:latin typeface="Times New Roman"/>
                <a:cs typeface="Times New Roman"/>
              </a:rPr>
              <a:t>Security</a:t>
            </a:r>
            <a:endParaRPr sz="2200">
              <a:latin typeface="Times New Roman"/>
              <a:cs typeface="Times New Roman"/>
            </a:endParaRPr>
          </a:p>
          <a:p>
            <a:pPr marL="312420" marR="5080" indent="-300355">
              <a:lnSpc>
                <a:spcPts val="2130"/>
              </a:lnSpc>
              <a:spcBef>
                <a:spcPts val="585"/>
              </a:spcBef>
              <a:tabLst>
                <a:tab pos="312420" algn="l"/>
              </a:tabLst>
            </a:pPr>
            <a:r>
              <a:rPr sz="1550" spc="-465" dirty="0">
                <a:solidFill>
                  <a:srgbClr val="FD8637"/>
                </a:solidFill>
                <a:latin typeface="Segoe UI Symbol"/>
                <a:cs typeface="Segoe UI Symbol"/>
              </a:rPr>
              <a:t>□</a:t>
            </a:r>
            <a:r>
              <a:rPr sz="1550" dirty="0">
                <a:solidFill>
                  <a:srgbClr val="FD8637"/>
                </a:solidFill>
                <a:latin typeface="Segoe UI Symbol"/>
                <a:cs typeface="Segoe UI Symbol"/>
              </a:rPr>
              <a:t>	</a:t>
            </a:r>
            <a:r>
              <a:rPr sz="2200" b="1" dirty="0">
                <a:latin typeface="Times New Roman"/>
                <a:cs typeface="Times New Roman"/>
              </a:rPr>
              <a:t>APFS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(Apple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File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System)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Designed with security in mind,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APFS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features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native </a:t>
            </a:r>
            <a:r>
              <a:rPr sz="2200" dirty="0">
                <a:latin typeface="Times New Roman"/>
                <a:cs typeface="Times New Roman"/>
              </a:rPr>
              <a:t>encryption,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snapshots,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cloning.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supports strong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encryption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 at rest 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transit.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170" y="5808202"/>
            <a:ext cx="11003915" cy="36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12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FileVault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2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 full-disk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encryption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XTS-AES-128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encryption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10" dirty="0">
                <a:latin typeface="Times New Roman"/>
                <a:cs typeface="Times New Roman"/>
              </a:rPr>
              <a:t>256-</a:t>
            </a:r>
            <a:r>
              <a:rPr sz="2200" dirty="0">
                <a:latin typeface="Times New Roman"/>
                <a:cs typeface="Times New Roman"/>
              </a:rPr>
              <a:t>bit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key.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340" y="6078865"/>
            <a:ext cx="10949305" cy="6350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615"/>
              </a:spcBef>
            </a:pPr>
            <a:r>
              <a:rPr sz="2200" dirty="0">
                <a:latin typeface="Times New Roman"/>
                <a:cs typeface="Times New Roman"/>
              </a:rPr>
              <a:t>FileVault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disk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encrypted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authenticated user.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21302" y="5868162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29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17600" y="685800"/>
            <a:ext cx="2789555" cy="36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/>
              <a:t>4.</a:t>
            </a:r>
            <a:r>
              <a:rPr sz="2200" spc="-25" dirty="0"/>
              <a:t> </a:t>
            </a:r>
            <a:r>
              <a:rPr sz="2200" dirty="0"/>
              <a:t>Application</a:t>
            </a:r>
            <a:r>
              <a:rPr sz="2200" spc="-20" dirty="0"/>
              <a:t> </a:t>
            </a:r>
            <a:r>
              <a:rPr sz="2200" spc="-10" dirty="0"/>
              <a:t>Security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281167" y="1371600"/>
            <a:ext cx="11433175" cy="433959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12420" marR="167640" indent="-300355">
              <a:lnSpc>
                <a:spcPts val="2130"/>
              </a:lnSpc>
              <a:spcBef>
                <a:spcPts val="61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Gatekeeper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trusted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macOS.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checks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digital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signature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apps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 verifies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 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identified developers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Store.</a:t>
            </a:r>
            <a:endParaRPr sz="2200" dirty="0">
              <a:latin typeface="Times New Roman"/>
              <a:cs typeface="Times New Roman"/>
            </a:endParaRPr>
          </a:p>
          <a:p>
            <a:pPr marL="312420" marR="5080" indent="-300355">
              <a:lnSpc>
                <a:spcPts val="2130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Notarization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distributed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outside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notarized. </a:t>
            </a:r>
            <a:r>
              <a:rPr sz="2200" dirty="0">
                <a:latin typeface="Times New Roman"/>
                <a:cs typeface="Times New Roman"/>
              </a:rPr>
              <a:t>Notarization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involves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scanning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malicious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ensuring it</a:t>
            </a:r>
            <a:r>
              <a:rPr sz="2200" spc="-10" dirty="0">
                <a:latin typeface="Times New Roman"/>
                <a:cs typeface="Times New Roman"/>
              </a:rPr>
              <a:t> meets </a:t>
            </a: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requirements.</a:t>
            </a:r>
            <a:endParaRPr sz="2200" dirty="0">
              <a:latin typeface="Times New Roman"/>
              <a:cs typeface="Times New Roman"/>
            </a:endParaRPr>
          </a:p>
          <a:p>
            <a:pPr marL="312420" marR="126364" indent="-300355">
              <a:lnSpc>
                <a:spcPts val="2130"/>
              </a:lnSpc>
              <a:spcBef>
                <a:spcPts val="60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Sandboxing</a:t>
            </a:r>
            <a:r>
              <a:rPr sz="2200" dirty="0">
                <a:latin typeface="Times New Roman"/>
                <a:cs typeface="Times New Roman"/>
              </a:rPr>
              <a:t>: Restricts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apps 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own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"sandbox,"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resources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data.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minimizes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potential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damage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malicious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compromised</a:t>
            </a:r>
            <a:r>
              <a:rPr sz="2200" spc="-10" dirty="0">
                <a:latin typeface="Times New Roman"/>
                <a:cs typeface="Times New Roman"/>
              </a:rPr>
              <a:t> apps.</a:t>
            </a:r>
            <a:endParaRPr sz="2200" dirty="0">
              <a:latin typeface="Times New Roman"/>
              <a:cs typeface="Times New Roman"/>
            </a:endParaRPr>
          </a:p>
          <a:p>
            <a:pPr marL="320040" indent="-281940">
              <a:lnSpc>
                <a:spcPct val="100000"/>
              </a:lnSpc>
              <a:spcBef>
                <a:spcPts val="105"/>
              </a:spcBef>
              <a:buAutoNum type="arabicPeriod" startAt="5"/>
              <a:tabLst>
                <a:tab pos="320040" algn="l"/>
              </a:tabLst>
            </a:pPr>
            <a:r>
              <a:rPr sz="2200" b="1" dirty="0">
                <a:latin typeface="Times New Roman"/>
                <a:cs typeface="Times New Roman"/>
              </a:rPr>
              <a:t>User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Authentication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Authorization</a:t>
            </a:r>
            <a:endParaRPr sz="2200" dirty="0">
              <a:latin typeface="Times New Roman"/>
              <a:cs typeface="Times New Roman"/>
            </a:endParaRPr>
          </a:p>
          <a:p>
            <a:pPr marL="312420" marR="205104" lvl="1" indent="-300355">
              <a:lnSpc>
                <a:spcPts val="2130"/>
              </a:lnSpc>
              <a:spcBef>
                <a:spcPts val="59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User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Accounts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macOS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supports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 accounts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 different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privilege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levels. </a:t>
            </a:r>
            <a:r>
              <a:rPr sz="2200" spc="-10" dirty="0">
                <a:latin typeface="Times New Roman"/>
                <a:cs typeface="Times New Roman"/>
              </a:rPr>
              <a:t>Standard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permissions, while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administrators have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 control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 the </a:t>
            </a:r>
            <a:r>
              <a:rPr sz="2200" spc="-10" dirty="0">
                <a:latin typeface="Times New Roman"/>
                <a:cs typeface="Times New Roman"/>
              </a:rPr>
              <a:t>system.</a:t>
            </a:r>
            <a:endParaRPr sz="2200" dirty="0">
              <a:latin typeface="Times New Roman"/>
              <a:cs typeface="Times New Roman"/>
            </a:endParaRPr>
          </a:p>
          <a:p>
            <a:pPr marL="312420" marR="26670" lvl="1" indent="-300355">
              <a:lnSpc>
                <a:spcPts val="2130"/>
              </a:lnSpc>
              <a:spcBef>
                <a:spcPts val="600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Authorization Services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authentication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authorization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privileged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operations.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authorized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sensitive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tasks.</a:t>
            </a:r>
            <a:endParaRPr sz="2200" dirty="0">
              <a:latin typeface="Times New Roman"/>
              <a:cs typeface="Times New Roman"/>
            </a:endParaRPr>
          </a:p>
          <a:p>
            <a:pPr marL="312420" marR="1296670" lvl="1" indent="-300355">
              <a:lnSpc>
                <a:spcPts val="2130"/>
              </a:lnSpc>
              <a:spcBef>
                <a:spcPts val="605"/>
              </a:spcBef>
              <a:buClr>
                <a:srgbClr val="FD8637"/>
              </a:buClr>
              <a:buSzPct val="70454"/>
              <a:buFont typeface="Segoe UI Symbol"/>
              <a:buChar char="□"/>
              <a:tabLst>
                <a:tab pos="312420" algn="l"/>
              </a:tabLst>
            </a:pPr>
            <a:r>
              <a:rPr sz="2200" b="1" dirty="0">
                <a:latin typeface="Times New Roman"/>
                <a:cs typeface="Times New Roman"/>
              </a:rPr>
              <a:t>Keychain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Securely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passwords,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encryption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keys,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certificates,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sensitive </a:t>
            </a:r>
            <a:r>
              <a:rPr sz="2200" dirty="0">
                <a:latin typeface="Times New Roman"/>
                <a:cs typeface="Times New Roman"/>
              </a:rPr>
              <a:t>information.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Keychain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encrypted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protected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user's login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password.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21302" y="5868162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30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582" y="179583"/>
            <a:ext cx="223456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/>
              <a:t>6.</a:t>
            </a:r>
            <a:r>
              <a:rPr sz="2050" spc="-70" dirty="0"/>
              <a:t> </a:t>
            </a:r>
            <a:r>
              <a:rPr sz="2050" dirty="0"/>
              <a:t>Network</a:t>
            </a:r>
            <a:r>
              <a:rPr sz="2050" spc="-65" dirty="0"/>
              <a:t> </a:t>
            </a:r>
            <a:r>
              <a:rPr sz="2050" spc="-10" dirty="0"/>
              <a:t>Security</a:t>
            </a:r>
            <a:endParaRPr sz="2050"/>
          </a:p>
        </p:txBody>
      </p:sp>
      <p:sp>
        <p:nvSpPr>
          <p:cNvPr id="3" name="object 3"/>
          <p:cNvSpPr txBox="1"/>
          <p:nvPr/>
        </p:nvSpPr>
        <p:spPr>
          <a:xfrm>
            <a:off x="301581" y="516133"/>
            <a:ext cx="11619601" cy="5383782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10515" marR="1169035" indent="-298450">
              <a:lnSpc>
                <a:spcPct val="79600"/>
              </a:lnSpc>
              <a:spcBef>
                <a:spcPts val="59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dirty="0">
                <a:latin typeface="Times New Roman"/>
                <a:cs typeface="Times New Roman"/>
              </a:rPr>
              <a:t>Firewall</a:t>
            </a:r>
            <a:r>
              <a:rPr sz="2050" dirty="0">
                <a:latin typeface="Times New Roman"/>
                <a:cs typeface="Times New Roman"/>
              </a:rPr>
              <a:t>: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Built-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firewall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controls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incoming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network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connections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configured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block </a:t>
            </a:r>
            <a:r>
              <a:rPr sz="2050" dirty="0">
                <a:latin typeface="Times New Roman"/>
                <a:cs typeface="Times New Roman"/>
              </a:rPr>
              <a:t>unauthorized</a:t>
            </a:r>
            <a:r>
              <a:rPr sz="2050" spc="-114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access.</a:t>
            </a:r>
            <a:endParaRPr sz="2050" dirty="0">
              <a:latin typeface="Times New Roman"/>
              <a:cs typeface="Times New Roman"/>
            </a:endParaRPr>
          </a:p>
          <a:p>
            <a:pPr marL="310515" marR="111125" indent="-298450">
              <a:lnSpc>
                <a:spcPct val="79600"/>
              </a:lnSpc>
              <a:spcBef>
                <a:spcPts val="60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dirty="0">
                <a:latin typeface="Times New Roman"/>
                <a:cs typeface="Times New Roman"/>
              </a:rPr>
              <a:t>VPN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and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Secure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Protocols</a:t>
            </a:r>
            <a:r>
              <a:rPr sz="2050" spc="-10" dirty="0">
                <a:latin typeface="Times New Roman"/>
                <a:cs typeface="Times New Roman"/>
              </a:rPr>
              <a:t>: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macOS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supports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various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VPN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protocols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(e.g.,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IPsec,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L2TP,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IKEv2)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secure communication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protocols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(e.g.,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TLS)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protect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data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transit.</a:t>
            </a:r>
            <a:endParaRPr sz="2050" dirty="0">
              <a:latin typeface="Times New Roman"/>
              <a:cs typeface="Times New Roman"/>
            </a:endParaRPr>
          </a:p>
          <a:p>
            <a:pPr marL="294640" indent="-258445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94640" algn="l"/>
              </a:tabLst>
            </a:pPr>
            <a:r>
              <a:rPr sz="2050" b="1" dirty="0">
                <a:latin typeface="Times New Roman"/>
                <a:cs typeface="Times New Roman"/>
              </a:rPr>
              <a:t>Privacy</a:t>
            </a:r>
            <a:r>
              <a:rPr sz="2050" b="1" spc="-75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Controls</a:t>
            </a:r>
            <a:endParaRPr sz="2050" dirty="0">
              <a:latin typeface="Times New Roman"/>
              <a:cs typeface="Times New Roman"/>
            </a:endParaRPr>
          </a:p>
          <a:p>
            <a:pPr marL="310515" marR="57150" lvl="1" indent="-298450">
              <a:lnSpc>
                <a:spcPct val="79600"/>
              </a:lnSpc>
              <a:spcBef>
                <a:spcPts val="60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dirty="0">
                <a:latin typeface="Times New Roman"/>
                <a:cs typeface="Times New Roman"/>
              </a:rPr>
              <a:t>Privacy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Preferences</a:t>
            </a:r>
            <a:r>
              <a:rPr sz="2050" spc="-10" dirty="0">
                <a:latin typeface="Times New Roman"/>
                <a:cs typeface="Times New Roman"/>
              </a:rPr>
              <a:t>: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macOS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includes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privacy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settings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allow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users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control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which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apps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have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access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to </a:t>
            </a:r>
            <a:r>
              <a:rPr sz="2050" dirty="0">
                <a:latin typeface="Times New Roman"/>
                <a:cs typeface="Times New Roman"/>
              </a:rPr>
              <a:t>sensitive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data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such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location,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contacts,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calendars,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photos.</a:t>
            </a:r>
            <a:endParaRPr sz="2050" dirty="0">
              <a:latin typeface="Times New Roman"/>
              <a:cs typeface="Times New Roman"/>
            </a:endParaRPr>
          </a:p>
          <a:p>
            <a:pPr marL="310515" marR="320675" lvl="1" indent="-298450">
              <a:lnSpc>
                <a:spcPct val="79600"/>
              </a:lnSpc>
              <a:spcBef>
                <a:spcPts val="60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spc="-10" dirty="0">
                <a:latin typeface="Times New Roman"/>
                <a:cs typeface="Times New Roman"/>
              </a:rPr>
              <a:t>Transparency,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Consent,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and</a:t>
            </a:r>
            <a:r>
              <a:rPr sz="2050" b="1" spc="-65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Control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(TCC)</a:t>
            </a:r>
            <a:r>
              <a:rPr sz="2050" dirty="0">
                <a:latin typeface="Times New Roman"/>
                <a:cs typeface="Times New Roman"/>
              </a:rPr>
              <a:t>: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Requires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apps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request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user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permission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before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accessing </a:t>
            </a:r>
            <a:r>
              <a:rPr sz="2050" dirty="0">
                <a:latin typeface="Times New Roman"/>
                <a:cs typeface="Times New Roman"/>
              </a:rPr>
              <a:t>certain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types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data,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such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microphone,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camera,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or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files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specific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directories.</a:t>
            </a:r>
            <a:endParaRPr sz="2050" dirty="0">
              <a:latin typeface="Times New Roman"/>
              <a:cs typeface="Times New Roman"/>
            </a:endParaRPr>
          </a:p>
          <a:p>
            <a:pPr marL="294640" indent="-258445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294640" algn="l"/>
              </a:tabLst>
            </a:pPr>
            <a:r>
              <a:rPr sz="2050" b="1" dirty="0">
                <a:latin typeface="Times New Roman"/>
                <a:cs typeface="Times New Roman"/>
              </a:rPr>
              <a:t>Security</a:t>
            </a:r>
            <a:r>
              <a:rPr sz="2050" b="1" spc="-8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Updates</a:t>
            </a:r>
            <a:r>
              <a:rPr sz="2050" b="1" spc="-75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and</a:t>
            </a:r>
            <a:r>
              <a:rPr sz="2050" b="1" spc="-8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Patch</a:t>
            </a:r>
            <a:r>
              <a:rPr sz="2050" b="1" spc="-75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Management</a:t>
            </a:r>
            <a:endParaRPr sz="2050" dirty="0">
              <a:latin typeface="Times New Roman"/>
              <a:cs typeface="Times New Roman"/>
            </a:endParaRPr>
          </a:p>
          <a:p>
            <a:pPr marL="310515" marR="206375" lvl="1" indent="-298450">
              <a:lnSpc>
                <a:spcPct val="79600"/>
              </a:lnSpc>
              <a:spcBef>
                <a:spcPts val="60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spc="-10" dirty="0">
                <a:latin typeface="Times New Roman"/>
                <a:cs typeface="Times New Roman"/>
              </a:rPr>
              <a:t>Automatic</a:t>
            </a:r>
            <a:r>
              <a:rPr sz="2050" b="1" spc="-75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Updates</a:t>
            </a:r>
            <a:r>
              <a:rPr sz="2050" dirty="0">
                <a:latin typeface="Times New Roman"/>
                <a:cs typeface="Times New Roman"/>
              </a:rPr>
              <a:t>: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macOS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regularly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receives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security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updates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patches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from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Apple.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Users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can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enable </a:t>
            </a:r>
            <a:r>
              <a:rPr sz="2050" dirty="0">
                <a:latin typeface="Times New Roman"/>
                <a:cs typeface="Times New Roman"/>
              </a:rPr>
              <a:t>automatic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updates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ensure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their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system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always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protected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against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latest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threats.</a:t>
            </a:r>
            <a:endParaRPr sz="2050" dirty="0">
              <a:latin typeface="Times New Roman"/>
              <a:cs typeface="Times New Roman"/>
            </a:endParaRPr>
          </a:p>
          <a:p>
            <a:pPr marL="310515" marR="5080" lvl="1" indent="-298450">
              <a:lnSpc>
                <a:spcPct val="79600"/>
              </a:lnSpc>
              <a:spcBef>
                <a:spcPts val="60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dirty="0">
                <a:latin typeface="Times New Roman"/>
                <a:cs typeface="Times New Roman"/>
              </a:rPr>
              <a:t>XProtect</a:t>
            </a:r>
            <a:r>
              <a:rPr sz="2050" dirty="0">
                <a:latin typeface="Times New Roman"/>
                <a:cs typeface="Times New Roman"/>
              </a:rPr>
              <a:t>: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Apple's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built-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malware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detection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system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uses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known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malware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signatures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detect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block </a:t>
            </a:r>
            <a:r>
              <a:rPr sz="2050" dirty="0">
                <a:latin typeface="Times New Roman"/>
                <a:cs typeface="Times New Roman"/>
              </a:rPr>
              <a:t>malicious</a:t>
            </a:r>
            <a:r>
              <a:rPr sz="2050" spc="-12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software.</a:t>
            </a:r>
            <a:endParaRPr sz="2050" dirty="0">
              <a:latin typeface="Times New Roman"/>
              <a:cs typeface="Times New Roman"/>
            </a:endParaRPr>
          </a:p>
          <a:p>
            <a:pPr marL="294640" indent="-258445">
              <a:lnSpc>
                <a:spcPct val="100000"/>
              </a:lnSpc>
              <a:spcBef>
                <a:spcPts val="95"/>
              </a:spcBef>
              <a:buAutoNum type="arabicPeriod" startAt="9"/>
              <a:tabLst>
                <a:tab pos="294640" algn="l"/>
              </a:tabLst>
            </a:pPr>
            <a:r>
              <a:rPr sz="2050" b="1" dirty="0">
                <a:latin typeface="Times New Roman"/>
                <a:cs typeface="Times New Roman"/>
              </a:rPr>
              <a:t>Endpoint</a:t>
            </a:r>
            <a:r>
              <a:rPr sz="2050" b="1" spc="-90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Security</a:t>
            </a:r>
            <a:endParaRPr sz="2050" dirty="0">
              <a:latin typeface="Times New Roman"/>
              <a:cs typeface="Times New Roman"/>
            </a:endParaRPr>
          </a:p>
          <a:p>
            <a:pPr marL="310515" marR="154940" lvl="1" indent="-298450">
              <a:lnSpc>
                <a:spcPct val="79600"/>
              </a:lnSpc>
              <a:spcBef>
                <a:spcPts val="60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dirty="0">
                <a:latin typeface="Times New Roman"/>
                <a:cs typeface="Times New Roman"/>
              </a:rPr>
              <a:t>Endpoint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Security</a:t>
            </a:r>
            <a:r>
              <a:rPr sz="2050" b="1" spc="-65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Framework</a:t>
            </a:r>
            <a:r>
              <a:rPr sz="2050" spc="-10" dirty="0">
                <a:latin typeface="Times New Roman"/>
                <a:cs typeface="Times New Roman"/>
              </a:rPr>
              <a:t>: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Provides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APIs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developers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create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security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solutions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monitor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respond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system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events,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such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file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access,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process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execution,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network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activity.</a:t>
            </a:r>
            <a:endParaRPr sz="2050" dirty="0">
              <a:latin typeface="Times New Roman"/>
              <a:cs typeface="Times New Roman"/>
            </a:endParaRPr>
          </a:p>
          <a:p>
            <a:pPr marL="310515" lvl="1" indent="-297815">
              <a:lnSpc>
                <a:spcPct val="100000"/>
              </a:lnSpc>
              <a:spcBef>
                <a:spcPts val="10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dirty="0">
                <a:latin typeface="Times New Roman"/>
                <a:cs typeface="Times New Roman"/>
              </a:rPr>
              <a:t>Malware</a:t>
            </a:r>
            <a:r>
              <a:rPr sz="2050" b="1" spc="-85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Removal</a:t>
            </a:r>
            <a:r>
              <a:rPr sz="2050" b="1" spc="-8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Tool</a:t>
            </a:r>
            <a:r>
              <a:rPr sz="2050" b="1" spc="-8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(MRT)</a:t>
            </a:r>
            <a:r>
              <a:rPr sz="2050" dirty="0">
                <a:latin typeface="Times New Roman"/>
                <a:cs typeface="Times New Roman"/>
              </a:rPr>
              <a:t>: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Automatically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detects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removes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known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malware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from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system.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582" y="5819602"/>
            <a:ext cx="210248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dirty="0">
                <a:latin typeface="Times New Roman"/>
                <a:cs typeface="Times New Roman"/>
              </a:rPr>
              <a:t>10.</a:t>
            </a:r>
            <a:r>
              <a:rPr sz="2050" b="1" spc="-6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Secure</a:t>
            </a:r>
            <a:r>
              <a:rPr sz="2050" b="1" spc="-60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Enclave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1800" y="6106923"/>
            <a:ext cx="11443028" cy="832792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10515" marR="5080" indent="-298450">
              <a:lnSpc>
                <a:spcPct val="79600"/>
              </a:lnSpc>
              <a:spcBef>
                <a:spcPts val="590"/>
              </a:spcBef>
              <a:buClr>
                <a:srgbClr val="FD8637"/>
              </a:buClr>
              <a:buSzPct val="68292"/>
              <a:buFont typeface="Segoe UI Symbol"/>
              <a:buChar char="□"/>
              <a:tabLst>
                <a:tab pos="310515" algn="l"/>
              </a:tabLst>
            </a:pPr>
            <a:r>
              <a:rPr sz="2050" b="1" dirty="0">
                <a:latin typeface="Times New Roman"/>
                <a:cs typeface="Times New Roman"/>
              </a:rPr>
              <a:t>Secure</a:t>
            </a:r>
            <a:r>
              <a:rPr sz="2050" b="1" spc="-7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Enclave</a:t>
            </a:r>
            <a:r>
              <a:rPr sz="2050" dirty="0">
                <a:latin typeface="Times New Roman"/>
                <a:cs typeface="Times New Roman"/>
              </a:rPr>
              <a:t>: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dedicated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security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subsystem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within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Apple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Silicon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handles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cryptographic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operations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stores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sensitive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data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such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encryption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keys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biometric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information.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isolated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from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main </a:t>
            </a:r>
            <a:r>
              <a:rPr sz="2050" dirty="0">
                <a:latin typeface="Times New Roman"/>
                <a:cs typeface="Times New Roman"/>
              </a:rPr>
              <a:t>processor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operating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system,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providing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additional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layer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-5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protection.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21302" y="5868162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3032</Words>
  <Application>Microsoft Office PowerPoint</Application>
  <PresentationFormat>Custom</PresentationFormat>
  <Paragraphs>372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Black</vt:lpstr>
      <vt:lpstr>Arial MT</vt:lpstr>
      <vt:lpstr>Calibri</vt:lpstr>
      <vt:lpstr>Segoe UI Symbol</vt:lpstr>
      <vt:lpstr>Tahoma</vt:lpstr>
      <vt:lpstr>Times New Roman</vt:lpstr>
      <vt:lpstr>Office Theme</vt:lpstr>
      <vt:lpstr>Security and Isolation in Operating System</vt:lpstr>
      <vt:lpstr>Kernel security mechanisms</vt:lpstr>
      <vt:lpstr>Key kernel security mechanisms:</vt:lpstr>
      <vt:lpstr>PowerPoint Presentation</vt:lpstr>
      <vt:lpstr>PowerPoint Presentation</vt:lpstr>
      <vt:lpstr>SELinux (Security-Enhanced Linux)</vt:lpstr>
      <vt:lpstr>How Security-Enhanced Linux Works?</vt:lpstr>
      <vt:lpstr>PowerPoint Presentation</vt:lpstr>
      <vt:lpstr>PowerPoint Presentation</vt:lpstr>
      <vt:lpstr>PowerPoint Presentation</vt:lpstr>
      <vt:lpstr>AppArmor</vt:lpstr>
      <vt:lpstr>PowerPoint Presentation</vt:lpstr>
      <vt:lpstr>PowerPoint Presentation</vt:lpstr>
      <vt:lpstr>PowerPoint Presentation</vt:lpstr>
      <vt:lpstr>PowerPoint Presentation</vt:lpstr>
      <vt:lpstr>WHY ASLR IS IMPORTANT?</vt:lpstr>
      <vt:lpstr>WHAT IS STACK PROTECTION?</vt:lpstr>
      <vt:lpstr>COMPARISON BETWEEN ASLR AND STACK PROTECTION</vt:lpstr>
      <vt:lpstr>Isolation in Operating Systems</vt:lpstr>
      <vt:lpstr>Importance of Isolation</vt:lpstr>
      <vt:lpstr>Namespaces in Linux</vt:lpstr>
      <vt:lpstr>Types of Namespaces</vt:lpstr>
      <vt:lpstr>Control Groups (Cgroups)</vt:lpstr>
      <vt:lpstr>Sandboxing</vt:lpstr>
      <vt:lpstr>WHAT IS A SIDE-CHANNEL ATTACK?</vt:lpstr>
      <vt:lpstr>HARDWARE-LEVEL MITIGATION TECHNIQUES</vt:lpstr>
      <vt:lpstr>HARDWARE-LEVEL MITIGATION TECHNIQUES</vt:lpstr>
      <vt:lpstr>SOFTWARE-LEVEL MITIGATION TECHNIQUES</vt:lpstr>
      <vt:lpstr>CASE STUDY: Linux Security Module</vt:lpstr>
      <vt:lpstr>PowerPoint Presentation</vt:lpstr>
      <vt:lpstr>PowerPoint Presentation</vt:lpstr>
      <vt:lpstr>Popular LSM Implementations:</vt:lpstr>
      <vt:lpstr>Android Architecture</vt:lpstr>
      <vt:lpstr>Components of Android Architecture</vt:lpstr>
      <vt:lpstr>PowerPoint Presentation</vt:lpstr>
      <vt:lpstr>PowerPoint Presentation</vt:lpstr>
      <vt:lpstr>PowerPoint Presentation</vt:lpstr>
      <vt:lpstr>PowerPoint Presentation</vt:lpstr>
      <vt:lpstr>macOS security architecture</vt:lpstr>
      <vt:lpstr>PowerPoint Presentation</vt:lpstr>
      <vt:lpstr>Below is an overview of the key components and features of macOS security architecture:</vt:lpstr>
      <vt:lpstr>4. Application Security</vt:lpstr>
      <vt:lpstr>6. Network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and Isolation in Operating System</dc:title>
  <dc:creator>ACER</dc:creator>
  <cp:lastModifiedBy>Anil Verma</cp:lastModifiedBy>
  <cp:revision>5</cp:revision>
  <dcterms:created xsi:type="dcterms:W3CDTF">2026-03-11T09:00:56Z</dcterms:created>
  <dcterms:modified xsi:type="dcterms:W3CDTF">2026-03-11T09:24:32Z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2026-03-11T00:00:00Z</vt:filetime>
  </property>
</Properties>
</file>